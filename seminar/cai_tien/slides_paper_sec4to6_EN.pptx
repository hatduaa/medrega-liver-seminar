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Region-Centric Task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Regions written as bounding-box tokens — the basis of the three region-centric tasks</a:t>
            </a:r>
          </a:p>
        </p:txBody>
      </p:sp>
      <p:pic>
        <p:nvPicPr>
          <p:cNvPr id="5" name="Picture 4" descr="paper_fig4_or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07592"/>
            <a:ext cx="7680960" cy="28697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204735"/>
            <a:ext cx="76809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1">
                <a:solidFill>
                  <a:srgbClr val="6B7F95"/>
                </a:solidFill>
                <a:latin typeface="Calibri"/>
              </a:rPr>
              <a:t>Figure 4 — the three region-centric tasks (paper)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343400"/>
            <a:ext cx="8549640" cy="585216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4407408"/>
            <a:ext cx="8330183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Box-as-text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Box coordinates written straight into the sentence: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&lt;ref&gt;object&lt;/ref&gt; &lt;box&gt;[x1,y1,x2,y2]&lt;/box&gt;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, normalized to integers in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[0, 1000)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(i.e.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0–999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) → no separate box output; all three tasks reduce to text generation.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Model Training — two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Base InternVL 1.2 (InternViT-6B + Yi-34B) — alignment training, then instruction tuning</a:t>
            </a:r>
          </a:p>
        </p:txBody>
      </p:sp>
      <p:pic>
        <p:nvPicPr>
          <p:cNvPr id="5" name="Picture 4" descr="paper_train_stag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8549640" cy="13225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2697480"/>
            <a:ext cx="4160520" cy="1243584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2779776"/>
            <a:ext cx="3904487" cy="10789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100" b="1" i="0">
                <a:solidFill>
                  <a:srgbClr val="1F558C"/>
                </a:solidFill>
                <a:latin typeface="Calibri"/>
              </a:rPr>
              <a:t>Stage 1 — Alignment training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Goal: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teach the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connector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 to map medical images → language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Data: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medical images +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captions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 (captioning)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Train: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connector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 only; vision &amp; LLM frozen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2697480"/>
            <a:ext cx="4297680" cy="1243584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45736" y="2779776"/>
            <a:ext cx="4041648" cy="10789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100" b="1" i="0">
                <a:solidFill>
                  <a:srgbClr val="1F558C"/>
                </a:solidFill>
                <a:latin typeface="Calibri"/>
              </a:rPr>
              <a:t>Stage 2 — Instruction tuning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Goal: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perform many tasks from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instructions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Data: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public (VQA, report, classification) +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MedRegInstruct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 (3 region tasks)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Train: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LLM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; loss = next-token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32504"/>
            <a:ext cx="8549640" cy="676656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4096512"/>
            <a:ext cx="8330183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MedRegInstruct — bilingual region data (used in Stage 2)</a:t>
            </a:r>
          </a:p>
          <a:p>
            <a:pPr>
              <a:spcBef>
                <a:spcPts val="100"/>
              </a:spcBef>
            </a:pPr>
            <a:r>
              <a:rPr sz="1000" b="1" i="0">
                <a:solidFill>
                  <a:srgbClr val="1C2736"/>
                </a:solidFill>
                <a:latin typeface="Calibri"/>
              </a:rPr>
              <a:t>790K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semi-automatically built samples: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550K Region-Text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(SA-Med2D-20M) +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240K Region-Grounded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(MIMIC-CXR + a Chinese hospital).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Chinese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hospital reports → the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English–Chinese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ability other baselines lack.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Stage-2 instructions — the three region-centric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Each task is an instruction type: what goes in → what the model returns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35607"/>
          <a:ext cx="854964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 returns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Region-to-Text Identification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image + </a:t>
                      </a:r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box [coords]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region name</a:t>
                      </a:r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 — e.g. “liver”, “tumor”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Text-to-Region Detection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image + </a:t>
                      </a:r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name</a:t>
                      </a:r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 — e.g. “where is the liver?”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box [coords]</a:t>
                      </a:r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 of the region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Grounded Report Generation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the whole image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a </a:t>
                      </a:r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report</a:t>
                      </a:r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, each line tied to a box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813048"/>
            <a:ext cx="8549640" cy="7315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3877056"/>
            <a:ext cx="8330183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How instructions are written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Coordinates are written inline: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&lt;box&gt;[x1,y1,x2,y2]&lt;/box&gt;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, normalized to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0–999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every answer (including location) is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text generation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. These (instruction → answer) pairs come from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MedRegInstruct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(previous slide).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Performance on General Medical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On par in English, clearly ahead in Chinese</a:t>
            </a:r>
          </a:p>
        </p:txBody>
      </p:sp>
      <p:pic>
        <p:nvPicPr>
          <p:cNvPr id="5" name="Picture 4" descr="paper_general_ba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74920" cy="26545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2120" y="1463039"/>
            <a:ext cx="3383280" cy="2743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1C2736"/>
                </a:solidFill>
                <a:latin typeface="Calibri"/>
              </a:rPr>
              <a:t>English:</a:t>
            </a:r>
            <a:r>
              <a:rPr sz="1150" b="0" i="0">
                <a:solidFill>
                  <a:srgbClr val="1C2736"/>
                </a:solidFill>
                <a:latin typeface="Calibri"/>
              </a:rPr>
              <a:t> slight edge — VQA 67.7 vs MedDr 65.7.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1C2736"/>
                </a:solidFill>
                <a:latin typeface="Calibri"/>
              </a:rPr>
              <a:t>Chinese: big jump</a:t>
            </a:r>
            <a:r>
              <a:rPr sz="1150" b="0" i="0">
                <a:solidFill>
                  <a:srgbClr val="1C2736"/>
                </a:solidFill>
                <a:latin typeface="Calibri"/>
              </a:rPr>
              <a:t> — Report +28.8, VQA +23 BLEU-1.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1C2736"/>
                </a:solidFill>
                <a:latin typeface="Calibri"/>
              </a:rPr>
              <a:t>Classification:</a:t>
            </a:r>
            <a:r>
              <a:rPr sz="1150" b="0" i="0">
                <a:solidFill>
                  <a:srgbClr val="1C2736"/>
                </a:solidFill>
                <a:latin typeface="Calibri"/>
              </a:rPr>
              <a:t> F1 47.97 vs 32.65 (+15).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1C2736"/>
                </a:solidFill>
                <a:latin typeface="Calibri"/>
              </a:rPr>
              <a:t>Regional CoT</a:t>
            </a:r>
            <a:r>
              <a:rPr sz="1150" b="0" i="0">
                <a:solidFill>
                  <a:srgbClr val="1C2736"/>
                </a:solidFill>
                <a:latin typeface="Calibri"/>
              </a:rPr>
              <a:t> (detect regions first → then reason): +31.6 F1 (VinDr-SpineXR) → localizing helps even general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361688"/>
            <a:ext cx="8375904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Takeaway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On general tasks MedRegA is slightly ahead; it pulls away on bilingual data and with region-guided reasoning.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Region-Aligned Evaluation on Region-Centric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Baselines score near 0 — this is MedRegA's unique 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>
                <a:solidFill>
                  <a:srgbClr val="1A3A5C"/>
                </a:solidFill>
                <a:latin typeface="Cambria"/>
              </a:rPr>
              <a:t>Region → Text (naming)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55064"/>
          <a:ext cx="416052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MedRegA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BLEU-1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≤0.75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69.72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≤1.27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70.43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BertScore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50.28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87.13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09160" y="132588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>
                <a:solidFill>
                  <a:srgbClr val="1A3A5C"/>
                </a:solidFill>
                <a:latin typeface="Cambria"/>
              </a:rPr>
              <a:t>Text → Region (detection)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09160" y="1655064"/>
          <a:ext cx="4160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InternVL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MedRegA</a:t>
                      </a:r>
                    </a:p>
                  </a:txBody>
                  <a:tcPr marL="63500" marT="25400" marB="25400" anchor="ctr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Object F1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56.60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77.93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Region F1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38.24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Alignment F1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5.45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36.53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IoU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12.28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23.43</a:t>
                      </a:r>
                    </a:p>
                  </a:txBody>
                  <a:tcPr marL="63500" marT="12700" marB="12700"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3538728"/>
            <a:ext cx="8549640" cy="56692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3602736"/>
            <a:ext cx="8330183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Metric ladder (harder →)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Object = right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name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Region = right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place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Alignment =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both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IoU = how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tight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15384"/>
            <a:ext cx="8549640" cy="658368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4279392"/>
            <a:ext cx="8330183" cy="530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050" b="1" i="0">
                <a:solidFill>
                  <a:srgbClr val="A04646"/>
                </a:solidFill>
                <a:latin typeface="Calibri"/>
              </a:rPr>
              <a:t>IoU note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IoU 23.43 is computed with Hungarian matching over matched pairs only. Grounded-report IoU 52.07 is higher because targets are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large organs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(easier), while detection aims at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small tumors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(harder).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Conclusion — and the bridge to 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What the paper contributes, and its limits (our observations)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8549640" cy="89611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8330183" cy="7680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Paper's contributions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Three region-centric tasks + the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MedRegInstruct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dataset (semi-automatic labeling) + the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MedRegA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region-aware bilingual model. Core value: linking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region ↔ text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more interpretable &amp; clinically interactive.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24328"/>
            <a:ext cx="854964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Only Chinese–English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— no Vietnamese.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Mostly 2D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— no 3D / multi-phase CT.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No external validation / calibration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— deployment reliability still open.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8549640" cy="65836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4087368"/>
            <a:ext cx="8330183" cy="530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→ Bridge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MedRegA is strong on region-language &amp; interpretability, but limited on Vietnamese, 3D data, and external validation → that's where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our work steps in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45736"/>
            <a:ext cx="854964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850" b="0" i="1">
                <a:solidFill>
                  <a:srgbClr val="757070"/>
                </a:solidFill>
                <a:latin typeface="Calibri"/>
              </a:rPr>
              <a:t>* The paper has no explicit Limitations/Future-Work section — these are our own observations.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Office PowerPoint</Application>
  <PresentationFormat>On-screen Show (16:9)</PresentationFormat>
  <Paragraphs>98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Đình Lộc</cp:lastModifiedBy>
  <cp:revision>2</cp:revision>
  <dcterms:created xsi:type="dcterms:W3CDTF">2013-01-27T09:14:16Z</dcterms:created>
  <dcterms:modified xsi:type="dcterms:W3CDTF">2026-07-05T17:09:10Z</dcterms:modified>
  <cp:category/>
</cp:coreProperties>
</file>