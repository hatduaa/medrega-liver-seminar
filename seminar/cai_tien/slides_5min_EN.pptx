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 EXPLANATION (Presenter View):</a:t>
            </a:r>
          </a:p>
          <a:p>
            <a:r>
              <a:t>• Detection F1 0.89 = balance of recall (catching tumors) &amp; precision (not over-flagging); computed PER-PATIENT to avoid inflation.</a:t>
            </a:r>
          </a:p>
          <a:p>
            <a:r>
              <a:t>• Sensitivity 80% = caught 20/25 tumor patients (missed 5) — the most clinically important number (missing a tumor is dangerous).</a:t>
            </a:r>
          </a:p>
          <a:p>
            <a:r>
              <a:t>• Localization pIoU 0.27 = box overlap (intersection/union), PENALIZED for extra/missing lesions → moderate, the weaker point (finds the region but not tightly).</a:t>
            </a:r>
          </a:p>
          <a:p>
            <a:r>
              <a:t>• recall@IoU.25 54% = 54% of tumors roughly localized (overlap ≥ 0.25).</a:t>
            </a:r>
          </a:p>
          <a:p>
            <a:r>
              <a:t>• False-positive 1.5% = on tumor-free slices, rarely invents a box (good).</a:t>
            </a:r>
          </a:p>
          <a:p>
            <a:r>
              <a:t>• CI95 [0.19, 0.36] = 95% confidence interval; the number varies because n is small (not a hard value).</a:t>
            </a:r>
          </a:p>
          <a:p>
            <a:r>
              <a:t>• No forgetting = thanks to LoRA keeping base weights → still chats / JSON / poem / math.</a:t>
            </a:r>
          </a:p>
          <a:p>
            <a:r>
              <a:t>• ~0.27 vs MedRegA ~0.23 = same ballpark despite 5× smaller, DIFFERENT dataset so reference only, NOT a 'we beat them' claim.</a:t>
            </a:r>
          </a:p>
          <a:p>
            <a:r>
              <a:t>• Caveat: small n (25 pos / 2 neg), wide CI, a PoC — no clinical claim.</a:t>
            </a:r>
          </a:p>
          <a:p/>
          <a:p>
            <a:r>
              <a:t>SCRIPT (~40s): "Our model reaches F1 0.89 on detection, 80% sensitivity (20/25 patients). Localization pIoU is 0.27 — only moderate, we don't hide it. Pluses: rarely invents tumors (FP 1.5%) and no forgetting thanks to LoRA. Localization is on par with MedRegA despite being 5× smaller, but different data so reference only. This is a PoC, small sample, so statistical limits remain."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9144000" cy="2103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72768"/>
            <a:ext cx="82296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Our Improvements on MedRegA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78608"/>
            <a:ext cx="8229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0" i="0">
                <a:solidFill>
                  <a:srgbClr val="B8CFE0"/>
                </a:solidFill>
                <a:latin typeface="Calibri"/>
              </a:rPr>
              <a:t>Fine-tuning Gemma 4 E4B for liver-tumor detection on CT (LiTS)</a:t>
            </a:r>
          </a:p>
          <a:p>
            <a:pPr algn="ctr"/>
            <a:r>
              <a:rPr sz="1500" b="0" i="0">
                <a:solidFill>
                  <a:srgbClr val="B8CFE0"/>
                </a:solidFill>
                <a:latin typeface="Calibri"/>
              </a:rPr>
              <a:t>A small model — honest about evaluation &amp; reliability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0"/>
            <a:ext cx="8229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00" b="0" i="0">
                <a:solidFill>
                  <a:srgbClr val="6B7F95"/>
                </a:solidFill>
                <a:latin typeface="Calibri"/>
              </a:rPr>
              <a:t>Deep Learning Seminar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Our architecture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Each choice fixes ONE MedRegA limitation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17320"/>
          <a:ext cx="841248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438912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MedRegA limitation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Our choice (why)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Load on the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40B LLM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; “eyes” &amp; “bridge” frozen → localization not sharp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Gemma 4 E4B (~8B)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 +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unlock vision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 (pIoU 0.015→0.27)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Only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1 central slice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,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no negatives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, coarse box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Multi-slice + negatives + multi-box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 (per-lesion); split by patient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Cost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16×H800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 — out of reach for a student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LoRA + full fine-tune vision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, runs on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1 GPU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Per-image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 (pseudoreplication); no abstain / CI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Per-patient + CI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, detect/localize split,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selective prediction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Improvements · Gemma 4 E4B (liver tumor, LiTS)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Our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What our model achieves — reported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35607"/>
            <a:ext cx="2697480" cy="12344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63624"/>
            <a:ext cx="2697480" cy="64190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3200" b="1" i="0">
                <a:solidFill>
                  <a:srgbClr val="1A3A5C"/>
                </a:solidFill>
                <a:latin typeface="Cambria"/>
              </a:rPr>
              <a:t>0.89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51583"/>
            <a:ext cx="2514600" cy="4937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1C2736"/>
                </a:solidFill>
                <a:latin typeface="Calibri"/>
              </a:rPr>
              <a:t>Detection F1 (patient)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1435607"/>
            <a:ext cx="2697480" cy="12344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1563624"/>
            <a:ext cx="2697480" cy="64190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3200" b="1" i="0">
                <a:solidFill>
                  <a:srgbClr val="1A3A5C"/>
                </a:solidFill>
                <a:latin typeface="Cambria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151583"/>
            <a:ext cx="2514600" cy="4937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1C2736"/>
                </a:solidFill>
                <a:latin typeface="Calibri"/>
              </a:rPr>
              <a:t>Sensitivity — catch tumors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9904" y="1435607"/>
            <a:ext cx="2697480" cy="12344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9904" y="1563624"/>
            <a:ext cx="2697480" cy="64190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3200" b="1" i="0">
                <a:solidFill>
                  <a:srgbClr val="1A3A5C"/>
                </a:solidFill>
                <a:latin typeface="Cambria"/>
              </a:rPr>
              <a:t>0.27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151583"/>
            <a:ext cx="2514600" cy="4937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1C2736"/>
                </a:solidFill>
                <a:latin typeface="Calibri"/>
              </a:rPr>
              <a:t>Localization pIoU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25496"/>
            <a:ext cx="841248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C2736"/>
                </a:solidFill>
                <a:latin typeface="Calibri"/>
              </a:rPr>
              <a:t>recall@IoU.25 = 54%</a:t>
            </a:r>
            <a:r>
              <a:rPr sz="1250" b="0" i="0">
                <a:solidFill>
                  <a:srgbClr val="1C2736"/>
                </a:solidFill>
                <a:latin typeface="Calibri"/>
              </a:rPr>
              <a:t> · </a:t>
            </a:r>
            <a:r>
              <a:rPr sz="1250" b="1" i="0">
                <a:solidFill>
                  <a:srgbClr val="1C2736"/>
                </a:solidFill>
                <a:latin typeface="Calibri"/>
              </a:rPr>
              <a:t>False-positive = 1.5%</a:t>
            </a:r>
            <a:r>
              <a:rPr sz="1250" b="0" i="0">
                <a:solidFill>
                  <a:srgbClr val="1C2736"/>
                </a:solidFill>
                <a:latin typeface="Calibri"/>
              </a:rPr>
              <a:t> (rarely invents boxes) · pIoU CI95 [0.19, 0.36].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C2736"/>
                </a:solidFill>
                <a:latin typeface="Calibri"/>
              </a:rPr>
              <a:t>No forgetting:</a:t>
            </a:r>
            <a:r>
              <a:rPr sz="1250" b="0" i="0">
                <a:solidFill>
                  <a:srgbClr val="1C2736"/>
                </a:solidFill>
                <a:latin typeface="Calibri"/>
              </a:rPr>
              <a:t> still chats / JSON / poem / math (LoRA keeps base weights).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C2736"/>
                </a:solidFill>
                <a:latin typeface="Calibri"/>
              </a:rPr>
              <a:t>Localization ~0.27 ≈ </a:t>
            </a:r>
            <a:r>
              <a:rPr sz="1250" b="1" i="0">
                <a:solidFill>
                  <a:srgbClr val="1C2736"/>
                </a:solidFill>
                <a:latin typeface="Calibri"/>
              </a:rPr>
              <a:t>same ballpark as MedRegA (~0.23)</a:t>
            </a:r>
            <a:r>
              <a:rPr sz="1250" b="0" i="0">
                <a:solidFill>
                  <a:srgbClr val="1C2736"/>
                </a:solidFill>
                <a:latin typeface="Calibri"/>
              </a:rPr>
              <a:t> despite 5× smaller — different dataset, reference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78808"/>
            <a:ext cx="841248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242816"/>
            <a:ext cx="8193023" cy="42062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A04646"/>
                </a:solidFill>
                <a:latin typeface="Calibri"/>
              </a:rPr>
              <a:t>⚠ Note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small n (~25 pos patients / 2 neg) → wide CI; a PoC, no clinical claim.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Improvements · Gemma 4 E4B (liver tumor, LiTS)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Where do the gains come from? —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Not just a model swap: zero-shot (new model, untrained) → fine-tuned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029200" cy="274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Swapping models alone is NOT enough: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zero-shot Gemma (untrained) scores only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F1 0.33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, almost always says “No tumor”.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Fine-tuning creates the capability: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F1 0.33→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0.89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, recall 0→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54%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, pIoU 0.002→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0.27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Extra evidence: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frozen vision → pIoU 0.015;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unlock + train → 0.27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— the training choice is the key.</a:t>
            </a:r>
          </a:p>
        </p:txBody>
      </p:sp>
      <p:pic>
        <p:nvPicPr>
          <p:cNvPr id="6" name="Picture 5" descr="before_after_qual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828800"/>
            <a:ext cx="3611880" cy="2190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94960" y="4047195"/>
            <a:ext cx="3611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 i="1">
                <a:solidFill>
                  <a:srgbClr val="6B7F95"/>
                </a:solidFill>
                <a:latin typeface="Calibri"/>
              </a:rPr>
              <a:t>Same case: before → after fine-tune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069080"/>
            <a:ext cx="5029200" cy="65836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133088"/>
            <a:ext cx="4809744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Takeaway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The gains come from FINE-TUNING (data + unlocked vision + eval), not from a newer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Improvements · Gemma 4 E4B (liver tumor, LiTS)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Each direction targets a limitation we observed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39"/>
            <a:ext cx="8412480" cy="274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Broaden scope: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train on other medical tasks (multiple organs, more diseases); toward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grounded reporting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Restore 3D context: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3D→2D loses context, hard to separate tumor from vessels (unlike radiologists) →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stack consecutive slices (2.5D)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; further: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multi-phase CT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via contrast dynamics.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Add Vietnamese medical knowledge: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train on more Vietnamese data (many niche domain terms) for correct Vietnamese-context answers.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More training data: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current data is limited so evaluation n is too small to trust → more data +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external validation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+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calibration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069080"/>
            <a:ext cx="8412480" cy="713232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4133088"/>
            <a:ext cx="8193023" cy="5852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Summary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This work demonstrates the feasibility of a region-centric approach at small scale (proof-of-concept); the directions above aim to address current limitations and move toward practical application.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Improvements · Gemma 4 E4B (liver tumor, LiTS)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