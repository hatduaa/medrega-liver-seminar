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METRIC EXPLANATION (Presenter View):</a:t>
            </a:r>
          </a:p>
          <a:p>
            <a:r>
              <a:t>• Detection F1 0.89 = balance of recall (catching tumors) &amp; precision (not over-flagging); computed PER-PATIENT to avoid inflation.</a:t>
            </a:r>
          </a:p>
          <a:p>
            <a:r>
              <a:t>• Sensitivity 80% = caught 20/25 tumor patients (missed 5) — the most clinically important number (missing a tumor is dangerous).</a:t>
            </a:r>
          </a:p>
          <a:p>
            <a:r>
              <a:t>• Localization pIoU 0.27 = box overlap (intersection/union), PENALIZED for extra/missing lesions → moderate, the weaker point (finds the region but not tightly).</a:t>
            </a:r>
          </a:p>
          <a:p>
            <a:r>
              <a:t>• recall@IoU.25 54% = 54% of tumors roughly localized (overlap ≥ 0.25).</a:t>
            </a:r>
          </a:p>
          <a:p>
            <a:r>
              <a:t>• False-positive 1.5% = on tumor-free slices, rarely invents a box (good).</a:t>
            </a:r>
          </a:p>
          <a:p>
            <a:r>
              <a:t>• CI95 [0.19, 0.36] = 95% confidence interval; the number varies because n is small (not a hard value).</a:t>
            </a:r>
          </a:p>
          <a:p>
            <a:r>
              <a:t>• No forgetting = thanks to LoRA keeping base weights → still chats / JSON / poem / math.</a:t>
            </a:r>
          </a:p>
          <a:p>
            <a:r>
              <a:t>• ~0.27 vs MedRegA ~0.23 = same ballpark despite 5× smaller, DIFFERENT dataset so reference only, NOT a 'we beat them' claim.</a:t>
            </a:r>
          </a:p>
          <a:p>
            <a:r>
              <a:t>• Caveat: small n (25 pos / 2 neg), wide CI, a PoC — no clinical claim.</a:t>
            </a:r>
          </a:p>
          <a:p/>
          <a:p>
            <a:r>
              <a:t>SCRIPT (~40s): "Our model reaches F1 0.89 on detection, 80% sensitivity (20/25 patients). Localization pIoU is 0.27 — only moderate, we don't hide it. Pluses: rarely invents tumors (FP 1.5%) and no forgetting thanks to LoRA. Localization is on par with MedRegA despite being 5× smaller, but different data so reference only. This is a PoC, small sample, so statistical limits remain."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219456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417320"/>
            <a:ext cx="9144000" cy="21031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72768"/>
            <a:ext cx="822960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Cambria"/>
              </a:rPr>
              <a:t>Our Improvements on MedRegA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578608"/>
            <a:ext cx="822960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1500" b="0" i="0">
                <a:solidFill>
                  <a:srgbClr val="B8CFE0"/>
                </a:solidFill>
                <a:latin typeface="Calibri"/>
              </a:rPr>
              <a:t>Fine-tuning Gemma 4 E4B for liver-tumor detection on CT (LiTS)</a:t>
            </a:r>
          </a:p>
          <a:p>
            <a:pPr algn="ctr"/>
            <a:r>
              <a:rPr sz="1500" b="0" i="0">
                <a:solidFill>
                  <a:srgbClr val="B8CFE0"/>
                </a:solidFill>
                <a:latin typeface="Calibri"/>
              </a:rPr>
              <a:t>A small model — honest about evaluation &amp; reliability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882896"/>
            <a:ext cx="9144000" cy="265176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4937760"/>
            <a:ext cx="822960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900" b="0" i="0">
                <a:solidFill>
                  <a:srgbClr val="6B7F95"/>
                </a:solidFill>
                <a:latin typeface="Calibri"/>
              </a:rPr>
              <a:t>Deep Learning Seminar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1887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85039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2200" b="1" i="0">
                <a:solidFill>
                  <a:srgbClr val="FFFFFF"/>
                </a:solidFill>
                <a:latin typeface="Cambria"/>
              </a:rPr>
              <a:t>Our architecture &amp; method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8328" y="694944"/>
            <a:ext cx="841248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150" b="0" i="1">
                <a:solidFill>
                  <a:srgbClr val="B8CFE0"/>
                </a:solidFill>
                <a:latin typeface="Calibri"/>
              </a:rPr>
              <a:t>Each choice fixes ONE MedRegA limitation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417320"/>
          <a:ext cx="8412480" cy="28346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023360"/>
                <a:gridCol w="4389120"/>
              </a:tblGrid>
              <a:tr h="56692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MedRegA limitation</a:t>
                      </a:r>
                    </a:p>
                  </a:txBody>
                  <a:tcPr anchor="ctr" marL="63500" marT="25400" marB="254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Our choice (why)</a:t>
                      </a:r>
                    </a:p>
                  </a:txBody>
                  <a:tcPr anchor="ctr" marL="63500" marT="25400" marB="25400">
                    <a:solidFill>
                      <a:srgbClr val="1A3A5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Load on the </a:t>
                      </a:r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40B LLM</a:t>
                      </a:r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; “eyes” &amp; “bridge” frozen → localization not sharp</a:t>
                      </a:r>
                    </a:p>
                  </a:txBody>
                  <a:tcPr anchor="ctr" marL="635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Gemma 4 E4B (~8B)</a:t>
                      </a:r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 + </a:t>
                      </a:r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unlock vision</a:t>
                      </a:r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 (pIoU 0.015→0.27)</a:t>
                      </a:r>
                    </a:p>
                  </a:txBody>
                  <a:tcPr anchor="ctr" marL="63500" marT="12700" marB="1270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Only </a:t>
                      </a:r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1 central slice</a:t>
                      </a:r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, </a:t>
                      </a:r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no negatives</a:t>
                      </a:r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, coarse box</a:t>
                      </a:r>
                    </a:p>
                  </a:txBody>
                  <a:tcPr anchor="ctr" marL="63500" marT="12700" marB="12700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Multi-slice + negatives + multi-box</a:t>
                      </a:r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 (per-lesion); split by patient</a:t>
                      </a:r>
                    </a:p>
                  </a:txBody>
                  <a:tcPr anchor="ctr" marL="63500" marT="12700" marB="12700">
                    <a:solidFill>
                      <a:srgbClr val="E8F0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Cost </a:t>
                      </a:r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16×H800</a:t>
                      </a:r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 — out of reach for a student</a:t>
                      </a:r>
                    </a:p>
                  </a:txBody>
                  <a:tcPr anchor="ctr" marL="635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LoRA + full fine-tune vision</a:t>
                      </a:r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, runs on </a:t>
                      </a:r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1 GPU</a:t>
                      </a:r>
                    </a:p>
                  </a:txBody>
                  <a:tcPr anchor="ctr" marL="63500" marT="12700" marB="1270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Per-image</a:t>
                      </a:r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 (pseudoreplication); no abstain / CI</a:t>
                      </a:r>
                    </a:p>
                  </a:txBody>
                  <a:tcPr anchor="ctr" marL="63500" marT="12700" marB="12700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Per-patient + CI</a:t>
                      </a:r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, detect/localize split, </a:t>
                      </a:r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selective prediction</a:t>
                      </a:r>
                    </a:p>
                  </a:txBody>
                  <a:tcPr anchor="ctr" marL="63500" marT="12700" marB="12700">
                    <a:solidFill>
                      <a:srgbClr val="E8F0F8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0" y="4882896"/>
            <a:ext cx="9144000" cy="265176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4937760"/>
            <a:ext cx="640080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850" b="0" i="0">
                <a:solidFill>
                  <a:srgbClr val="6B7F95"/>
                </a:solidFill>
                <a:latin typeface="Calibri"/>
              </a:rPr>
              <a:t>MedRegA Improvements · Gemma 4 E4B (liver tumor, LiTS)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4937760"/>
            <a:ext cx="73152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5A5A5A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1887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85039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2200" b="1" i="0">
                <a:solidFill>
                  <a:srgbClr val="FFFFFF"/>
                </a:solidFill>
                <a:latin typeface="Cambria"/>
              </a:rPr>
              <a:t>Our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8328" y="694944"/>
            <a:ext cx="841248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150" b="0" i="1">
                <a:solidFill>
                  <a:srgbClr val="B8CFE0"/>
                </a:solidFill>
                <a:latin typeface="Calibri"/>
              </a:rPr>
              <a:t>What our model achieves — reported directly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435607"/>
            <a:ext cx="2697480" cy="123444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563624"/>
            <a:ext cx="2697480" cy="641908"/>
          </a:xfrm>
          <a:prstGeom prst="rect">
            <a:avLst/>
          </a:prstGeom>
          <a:noFill/>
        </p:spPr>
        <p:txBody>
          <a:bodyPr wrap="square" anchor="b" lIns="25400" rIns="25400" tIns="12700" bIns="12700">
            <a:spAutoFit/>
          </a:bodyPr>
          <a:lstStyle/>
          <a:p>
            <a:pPr algn="ctr"/>
            <a:r>
              <a:rPr sz="3200" b="1" i="0">
                <a:solidFill>
                  <a:srgbClr val="1A3A5C"/>
                </a:solidFill>
                <a:latin typeface="Cambria"/>
              </a:rPr>
              <a:t>0.89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151583"/>
            <a:ext cx="2514600" cy="49377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1100" b="0" i="0">
                <a:solidFill>
                  <a:srgbClr val="1C2736"/>
                </a:solidFill>
                <a:latin typeface="Calibri"/>
              </a:rPr>
              <a:t>Detection F1 (patient)</a:t>
            </a:r>
          </a:p>
        </p:txBody>
      </p:sp>
      <p:sp>
        <p:nvSpPr>
          <p:cNvPr id="8" name="Rectangle 7"/>
          <p:cNvSpPr/>
          <p:nvPr/>
        </p:nvSpPr>
        <p:spPr>
          <a:xfrm>
            <a:off x="3227832" y="1435607"/>
            <a:ext cx="2697480" cy="123444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27832" y="1563624"/>
            <a:ext cx="2697480" cy="641908"/>
          </a:xfrm>
          <a:prstGeom prst="rect">
            <a:avLst/>
          </a:prstGeom>
          <a:noFill/>
        </p:spPr>
        <p:txBody>
          <a:bodyPr wrap="square" anchor="b" lIns="25400" rIns="25400" tIns="12700" bIns="12700">
            <a:spAutoFit/>
          </a:bodyPr>
          <a:lstStyle/>
          <a:p>
            <a:pPr algn="ctr"/>
            <a:r>
              <a:rPr sz="3200" b="1" i="0">
                <a:solidFill>
                  <a:srgbClr val="1A3A5C"/>
                </a:solidFill>
                <a:latin typeface="Cambria"/>
              </a:rPr>
              <a:t>80%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19272" y="2151583"/>
            <a:ext cx="2514600" cy="49377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1100" b="0" i="0">
                <a:solidFill>
                  <a:srgbClr val="1C2736"/>
                </a:solidFill>
                <a:latin typeface="Calibri"/>
              </a:rPr>
              <a:t>Sensitivity — catch tumors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89904" y="1435607"/>
            <a:ext cx="2697480" cy="123444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89904" y="1563624"/>
            <a:ext cx="2697480" cy="641908"/>
          </a:xfrm>
          <a:prstGeom prst="rect">
            <a:avLst/>
          </a:prstGeom>
          <a:noFill/>
        </p:spPr>
        <p:txBody>
          <a:bodyPr wrap="square" anchor="b" lIns="25400" rIns="25400" tIns="12700" bIns="12700">
            <a:spAutoFit/>
          </a:bodyPr>
          <a:lstStyle/>
          <a:p>
            <a:pPr algn="ctr"/>
            <a:r>
              <a:rPr sz="3200" b="1" i="0">
                <a:solidFill>
                  <a:srgbClr val="1A3A5C"/>
                </a:solidFill>
                <a:latin typeface="Cambria"/>
              </a:rPr>
              <a:t>0.27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81344" y="2151583"/>
            <a:ext cx="2514600" cy="49377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1100" b="0" i="0">
                <a:solidFill>
                  <a:srgbClr val="1C2736"/>
                </a:solidFill>
                <a:latin typeface="Calibri"/>
              </a:rPr>
              <a:t>Localization pIoU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825496"/>
            <a:ext cx="8412480" cy="1371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25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250" b="1" i="0">
                <a:solidFill>
                  <a:srgbClr val="1C2736"/>
                </a:solidFill>
                <a:latin typeface="Calibri"/>
              </a:rPr>
              <a:t>recall@IoU.25 = 54%</a:t>
            </a:r>
            <a:r>
              <a:rPr sz="1250" b="0" i="0">
                <a:solidFill>
                  <a:srgbClr val="1C2736"/>
                </a:solidFill>
                <a:latin typeface="Calibri"/>
              </a:rPr>
              <a:t> · </a:t>
            </a:r>
            <a:r>
              <a:rPr sz="1250" b="1" i="0">
                <a:solidFill>
                  <a:srgbClr val="1C2736"/>
                </a:solidFill>
                <a:latin typeface="Calibri"/>
              </a:rPr>
              <a:t>False-positive = 1.5%</a:t>
            </a:r>
            <a:r>
              <a:rPr sz="1250" b="0" i="0">
                <a:solidFill>
                  <a:srgbClr val="1C2736"/>
                </a:solidFill>
                <a:latin typeface="Calibri"/>
              </a:rPr>
              <a:t> (rarely invents boxes) · pIoU CI95 [0.19, 0.36].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25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250" b="1" i="0">
                <a:solidFill>
                  <a:srgbClr val="1C2736"/>
                </a:solidFill>
                <a:latin typeface="Calibri"/>
              </a:rPr>
              <a:t>No forgetting:</a:t>
            </a:r>
            <a:r>
              <a:rPr sz="1250" b="0" i="0">
                <a:solidFill>
                  <a:srgbClr val="1C2736"/>
                </a:solidFill>
                <a:latin typeface="Calibri"/>
              </a:rPr>
              <a:t> still chats / JSON / poem / math (LoRA keeps base weights).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25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250" b="0" i="0">
                <a:solidFill>
                  <a:srgbClr val="1C2736"/>
                </a:solidFill>
                <a:latin typeface="Calibri"/>
              </a:rPr>
              <a:t>Localization ~0.27 ≈ </a:t>
            </a:r>
            <a:r>
              <a:rPr sz="1250" b="1" i="0">
                <a:solidFill>
                  <a:srgbClr val="1C2736"/>
                </a:solidFill>
                <a:latin typeface="Calibri"/>
              </a:rPr>
              <a:t>same ballpark as MedRegA (~0.23)</a:t>
            </a:r>
            <a:r>
              <a:rPr sz="1250" b="0" i="0">
                <a:solidFill>
                  <a:srgbClr val="1C2736"/>
                </a:solidFill>
                <a:latin typeface="Calibri"/>
              </a:rPr>
              <a:t> despite 5× smaller — different dataset, reference only.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4178808"/>
            <a:ext cx="8412480" cy="548640"/>
          </a:xfrm>
          <a:prstGeom prst="rect">
            <a:avLst/>
          </a:prstGeom>
          <a:solidFill>
            <a:srgbClr val="FB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" y="4242816"/>
            <a:ext cx="8193023" cy="420623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050" b="1" i="0">
                <a:solidFill>
                  <a:srgbClr val="A04646"/>
                </a:solidFill>
                <a:latin typeface="Calibri"/>
              </a:rPr>
              <a:t>⚠ Note</a:t>
            </a:r>
          </a:p>
          <a:p>
            <a:pPr>
              <a:spcBef>
                <a:spcPts val="100"/>
              </a:spcBef>
            </a:pPr>
            <a:r>
              <a:rPr sz="1000" b="0" i="0">
                <a:solidFill>
                  <a:srgbClr val="1C2736"/>
                </a:solidFill>
                <a:latin typeface="Calibri"/>
              </a:rPr>
              <a:t>small n (~25 pos patients / 2 neg) → wide CI; a PoC, no clinical claim.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4882896"/>
            <a:ext cx="9144000" cy="265176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" y="4937760"/>
            <a:ext cx="640080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850" b="0" i="0">
                <a:solidFill>
                  <a:srgbClr val="6B7F95"/>
                </a:solidFill>
                <a:latin typeface="Calibri"/>
              </a:rPr>
              <a:t>MedRegA Improvements · Gemma 4 E4B (liver tumor, LiTS)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4937760"/>
            <a:ext cx="73152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5A5A5A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1887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85039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2200" b="1" i="0">
                <a:solidFill>
                  <a:srgbClr val="FFFFFF"/>
                </a:solidFill>
                <a:latin typeface="Cambria"/>
              </a:rPr>
              <a:t>Where do the gains come from? — fine-tuning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8328" y="694944"/>
            <a:ext cx="841248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150" b="0" i="1">
                <a:solidFill>
                  <a:srgbClr val="B8CFE0"/>
                </a:solidFill>
                <a:latin typeface="Calibri"/>
              </a:rPr>
              <a:t>Not just a model swap: zero-shot (new model, untrained) → fine-tuned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417320"/>
            <a:ext cx="5029200" cy="2743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30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Swapping models alone is NOT enough: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 zero-shot Gemma (untrained) scores only 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F1 0.33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, almost always says “No tumor”.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30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Fine-tuning creates the capability: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 F1 0.33→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0.89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, recall 0→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54%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, pIoU 0.002→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0.27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30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Extra evidence: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 frozen vision → pIoU 0.015; 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unlock + train → 0.27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 — the training choice is the key.</a:t>
            </a:r>
          </a:p>
        </p:txBody>
      </p:sp>
      <p:pic>
        <p:nvPicPr>
          <p:cNvPr id="6" name="Picture 5" descr="before_after_qual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828800"/>
            <a:ext cx="3611880" cy="216158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394960" y="4017817"/>
            <a:ext cx="36118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800" b="0" i="1">
                <a:solidFill>
                  <a:srgbClr val="6B7F95"/>
                </a:solidFill>
                <a:latin typeface="Calibri"/>
              </a:rPr>
              <a:t>Same case: before → after fine-tune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4069080"/>
            <a:ext cx="5029200" cy="658368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4133088"/>
            <a:ext cx="4809744" cy="53035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050" b="1" i="0">
                <a:solidFill>
                  <a:srgbClr val="1F558C"/>
                </a:solidFill>
                <a:latin typeface="Calibri"/>
              </a:rPr>
              <a:t>Takeaway</a:t>
            </a:r>
          </a:p>
          <a:p>
            <a:pPr>
              <a:spcBef>
                <a:spcPts val="100"/>
              </a:spcBef>
            </a:pPr>
            <a:r>
              <a:rPr sz="1000" b="0" i="0">
                <a:solidFill>
                  <a:srgbClr val="1C2736"/>
                </a:solidFill>
                <a:latin typeface="Calibri"/>
              </a:rPr>
              <a:t>The gains come from FINE-TUNING (data + unlocked vision + eval), not from a newer model.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4882896"/>
            <a:ext cx="9144000" cy="265176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4937760"/>
            <a:ext cx="640080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850" b="0" i="0">
                <a:solidFill>
                  <a:srgbClr val="6B7F95"/>
                </a:solidFill>
                <a:latin typeface="Calibri"/>
              </a:rPr>
              <a:t>MedRegA Improvements · Gemma 4 E4B (liver tumor, LiTS)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4937760"/>
            <a:ext cx="73152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5A5A5A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1887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85039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2200" b="1" i="0">
                <a:solidFill>
                  <a:srgbClr val="FFFFFF"/>
                </a:solidFill>
                <a:latin typeface="Cambria"/>
              </a:rPr>
              <a:t>Future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8328" y="694944"/>
            <a:ext cx="841248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150" b="0" i="1">
                <a:solidFill>
                  <a:srgbClr val="B8CFE0"/>
                </a:solidFill>
                <a:latin typeface="Calibri"/>
              </a:rPr>
              <a:t>Each direction targets a limitation we observed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463039"/>
            <a:ext cx="8412480" cy="2743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30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Broaden scope: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 train on other medical tasks (multiple organs, more diseases); toward 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grounded reporting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.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30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Restore 3D context: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 3D→2D loses context, hard to separate tumor from vessels (unlike radiologists) → 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stack consecutive slices (2.5D)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; further: 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multi-phase CT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 via contrast dynamics.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30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Add Vietnamese medical knowledge: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 train on more Vietnamese data (many niche domain terms) for correct Vietnamese-context answers.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30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More training data: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 current data is limited so evaluation n is too small to trust → more data + 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external validation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 + 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calibration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4114800"/>
            <a:ext cx="8412480" cy="54864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4178808"/>
            <a:ext cx="8193023" cy="420623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050" b="1" i="0">
                <a:solidFill>
                  <a:srgbClr val="1F558C"/>
                </a:solidFill>
                <a:latin typeface="Calibri"/>
              </a:rPr>
              <a:t>Closing</a:t>
            </a:r>
          </a:p>
          <a:p>
            <a:pPr>
              <a:spcBef>
                <a:spcPts val="100"/>
              </a:spcBef>
            </a:pPr>
            <a:r>
              <a:rPr sz="1000" b="0" i="0">
                <a:solidFill>
                  <a:srgbClr val="1C2736"/>
                </a:solidFill>
                <a:latin typeface="Calibri"/>
              </a:rPr>
              <a:t>We don't claim to have arrived — we map the road and where it's still steep.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4882896"/>
            <a:ext cx="9144000" cy="265176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4937760"/>
            <a:ext cx="640080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850" b="0" i="0">
                <a:solidFill>
                  <a:srgbClr val="6B7F95"/>
                </a:solidFill>
                <a:latin typeface="Calibri"/>
              </a:rPr>
              <a:t>MedRegA Improvements · Gemma 4 E4B (liver tumor, LiTS)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4937760"/>
            <a:ext cx="73152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5A5A5A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