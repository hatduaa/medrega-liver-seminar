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219456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17320"/>
            <a:ext cx="9144000" cy="21031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72768"/>
            <a:ext cx="822960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mbria"/>
              </a:rPr>
              <a:t>Our Improvements on MedRegA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78608"/>
            <a:ext cx="82296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500" b="0" i="0">
                <a:solidFill>
                  <a:srgbClr val="B8CFE0"/>
                </a:solidFill>
                <a:latin typeface="Calibri"/>
              </a:rPr>
              <a:t>Fine-tuning Gemma 4 E4B for liver-tumor detection on CT (LiTS)</a:t>
            </a:r>
          </a:p>
          <a:p>
            <a:pPr algn="ctr"/>
            <a:r>
              <a:rPr sz="1500" b="0" i="0">
                <a:solidFill>
                  <a:srgbClr val="B8CFE0"/>
                </a:solidFill>
                <a:latin typeface="Calibri"/>
              </a:rPr>
              <a:t>A small model — honest about evaluation &amp; reliability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4937760"/>
            <a:ext cx="82296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00" b="0" i="0">
                <a:solidFill>
                  <a:srgbClr val="6B7F95"/>
                </a:solidFill>
                <a:latin typeface="Calibri"/>
              </a:rPr>
              <a:t>Deep Learning Seminar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Our architecture &amp;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Each choice fixes ONE MedRegA limitation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417320"/>
          <a:ext cx="8412480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4389120"/>
              </a:tblGrid>
              <a:tr h="56692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MedRegA limitation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Our choice (why)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Load on the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40B LLM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; “eyes” &amp; “bridge” frozen → localization not sharp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Gemma 4 E4B (~8B)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+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unlock vision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(pIoU 0.015→0.27)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Only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1 central slice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no negatives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coarse box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Multi-slice + negatives + multi-box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(per-lesion); split by patient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Cost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16×H800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— out of reach for a student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LoRA + full fine-tune vision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runs on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1 GPU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Per-image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(pseudoreplication); no abstain / CI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Per-patient + CI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detect/localize split,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selective prediction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MedRegA Improvements · Gemma 4 E4B (liver tumor, LiTS)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8696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Results vs baseline (zero-shot → fine-tuned)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069848"/>
          <a:ext cx="502920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1188720"/>
                <a:gridCol w="118872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Ours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C2736"/>
                          </a:solidFill>
                          <a:latin typeface="Calibri"/>
                        </a:rPr>
                        <a:t>Detection F1 (patient)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C2736"/>
                          </a:solidFill>
                          <a:latin typeface="Calibri"/>
                        </a:rPr>
                        <a:t>0.33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C2736"/>
                          </a:solidFill>
                          <a:latin typeface="Calibri"/>
                        </a:rPr>
                        <a:t>0.89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C2736"/>
                          </a:solidFill>
                          <a:latin typeface="Calibri"/>
                        </a:rPr>
                        <a:t>Sensitivity (catch tumor)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C2736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C2736"/>
                          </a:solidFill>
                          <a:latin typeface="Calibri"/>
                        </a:rPr>
                        <a:t>80%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C2736"/>
                          </a:solidFill>
                          <a:latin typeface="Calibri"/>
                        </a:rPr>
                        <a:t>Localization pIoU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C2736"/>
                          </a:solidFill>
                          <a:latin typeface="Calibri"/>
                        </a:rPr>
                        <a:t>0.002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C2736"/>
                          </a:solidFill>
                          <a:latin typeface="Calibri"/>
                        </a:rPr>
                        <a:t>0.27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C2736"/>
                          </a:solidFill>
                          <a:latin typeface="Calibri"/>
                        </a:rPr>
                        <a:t>recall@IoU 0.25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C2736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C2736"/>
                          </a:solidFill>
                          <a:latin typeface="Calibri"/>
                        </a:rPr>
                        <a:t>54%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C2736"/>
                          </a:solidFill>
                          <a:latin typeface="Calibri"/>
                        </a:rPr>
                        <a:t>False-positive (neg. slice)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C2736"/>
                          </a:solidFill>
                          <a:latin typeface="Calibri"/>
                        </a:rPr>
                        <a:t>2.2%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C2736"/>
                          </a:solidFill>
                          <a:latin typeface="Calibri"/>
                        </a:rPr>
                        <a:t>1.5%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172968"/>
            <a:ext cx="50292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2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200" b="1" i="0">
                <a:solidFill>
                  <a:srgbClr val="1C2736"/>
                </a:solidFill>
                <a:latin typeface="Calibri"/>
              </a:rPr>
              <a:t>No forgetting:</a:t>
            </a:r>
            <a:r>
              <a:rPr sz="1200" b="0" i="0">
                <a:solidFill>
                  <a:srgbClr val="1C2736"/>
                </a:solidFill>
                <a:latin typeface="Calibri"/>
              </a:rPr>
              <a:t> still chats / JSON / poem / math (LoRA keeps base weights).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3767328"/>
            <a:ext cx="5029200" cy="640080"/>
          </a:xfrm>
          <a:prstGeom prst="rect">
            <a:avLst/>
          </a:prstGeom>
          <a:solidFill>
            <a:srgbClr val="FB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3831336"/>
            <a:ext cx="4809744" cy="51206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A04646"/>
                </a:solidFill>
                <a:latin typeface="Calibri"/>
              </a:rPr>
              <a:t>⚠ Note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small n (~25 pos patients, 2 neg) → wide CI; this is a PoC, no clinical claim.</a:t>
            </a:r>
          </a:p>
        </p:txBody>
      </p:sp>
      <p:pic>
        <p:nvPicPr>
          <p:cNvPr id="8" name="Picture 7" descr="detect_before_after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252728"/>
            <a:ext cx="3383280" cy="19537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577840" y="3233885"/>
            <a:ext cx="3383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800" b="0" i="1">
                <a:solidFill>
                  <a:srgbClr val="6B7F95"/>
                </a:solidFill>
                <a:latin typeface="Calibri"/>
              </a:rPr>
              <a:t>Before → after fine-tune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MedRegA Improvements · Gemma 4 E4B (liver tumor, LiTS)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8696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Results vs MedRegA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069848"/>
          <a:ext cx="548640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Aspect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MedRegA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Ours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1C2736"/>
                          </a:solidFill>
                          <a:latin typeface="Calibri"/>
                        </a:rPr>
                        <a:t>Scale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2736"/>
                          </a:solidFill>
                          <a:latin typeface="Calibri"/>
                        </a:rPr>
                        <a:t>~40B, 16×H800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2736"/>
                          </a:solidFill>
                          <a:latin typeface="Calibri"/>
                        </a:rPr>
                        <a:t>~8B, 1 GPU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1C2736"/>
                          </a:solidFill>
                          <a:latin typeface="Calibri"/>
                        </a:rPr>
                        <a:t>Into 3D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2736"/>
                          </a:solidFill>
                          <a:latin typeface="Calibri"/>
                        </a:rPr>
                        <a:t>1 central slice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2736"/>
                          </a:solidFill>
                          <a:latin typeface="Calibri"/>
                        </a:rPr>
                        <a:t>multi-slice + negatives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1C2736"/>
                          </a:solidFill>
                          <a:latin typeface="Calibri"/>
                        </a:rPr>
                        <a:t>Eval unit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2736"/>
                          </a:solidFill>
                          <a:latin typeface="Calibri"/>
                        </a:rPr>
                        <a:t>per-image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2736"/>
                          </a:solidFill>
                          <a:latin typeface="Calibri"/>
                        </a:rPr>
                        <a:t>per-patient + CI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1C2736"/>
                          </a:solidFill>
                          <a:latin typeface="Calibri"/>
                        </a:rPr>
                        <a:t>Detect vs Localize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2736"/>
                          </a:solidFill>
                          <a:latin typeface="Calibri"/>
                        </a:rPr>
                        <a:t>merged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2736"/>
                          </a:solidFill>
                          <a:latin typeface="Calibri"/>
                        </a:rPr>
                        <a:t>separated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1C2736"/>
                          </a:solidFill>
                          <a:latin typeface="Calibri"/>
                        </a:rPr>
                        <a:t>Negatives / Uncertainty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2736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2736"/>
                          </a:solidFill>
                          <a:latin typeface="Calibri"/>
                        </a:rPr>
                        <a:t>FP + selective prediction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1C2736"/>
                          </a:solidFill>
                          <a:latin typeface="Calibri"/>
                        </a:rPr>
                        <a:t>Localization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2736"/>
                          </a:solidFill>
                          <a:latin typeface="Calibri"/>
                        </a:rPr>
                        <a:t>IoU ~0.23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2736"/>
                          </a:solidFill>
                          <a:latin typeface="Calibri"/>
                        </a:rPr>
                        <a:t>pIoU ~0.27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989320" y="1115568"/>
            <a:ext cx="2834640" cy="219456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9048" y="1179576"/>
            <a:ext cx="2615184" cy="206654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F558C"/>
                </a:solidFill>
                <a:latin typeface="Calibri"/>
              </a:rPr>
              <a:t>Read it correctly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NOT a direct number match (different data/metric); pIoU is PENALIZED, so stricter. Real contribution = honest evaluation + reliability layer.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MedRegA Improvements · Gemma 4 E4B (liver tumor, LiTS)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8696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8412480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5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1C2736"/>
                </a:solidFill>
                <a:latin typeface="Calibri"/>
              </a:rPr>
              <a:t>Proof of mechanism:</a:t>
            </a:r>
            <a:r>
              <a:rPr sz="1500" b="0" i="0">
                <a:solidFill>
                  <a:srgbClr val="1C2736"/>
                </a:solidFill>
                <a:latin typeface="Calibri"/>
              </a:rPr>
              <a:t> region-centric (localize-then-read) is feasible at </a:t>
            </a:r>
            <a:r>
              <a:rPr sz="1500" b="1" i="0">
                <a:solidFill>
                  <a:srgbClr val="1C2736"/>
                </a:solidFill>
                <a:latin typeface="Calibri"/>
              </a:rPr>
              <a:t>~8B, 1 GPU</a:t>
            </a:r>
            <a:r>
              <a:rPr sz="1500" b="0" i="0">
                <a:solidFill>
                  <a:srgbClr val="1C2736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5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1C2736"/>
                </a:solidFill>
                <a:latin typeface="Calibri"/>
              </a:rPr>
              <a:t>Value:</a:t>
            </a:r>
            <a:r>
              <a:rPr sz="1500" b="0" i="0">
                <a:solidFill>
                  <a:srgbClr val="1C2736"/>
                </a:solidFill>
                <a:latin typeface="Calibri"/>
              </a:rPr>
              <a:t> honest evaluation + selective prediction — not the score.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5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1C2736"/>
                </a:solidFill>
                <a:latin typeface="Calibri"/>
              </a:rPr>
              <a:t>Honest:</a:t>
            </a:r>
            <a:r>
              <a:rPr sz="1500" b="0" i="0">
                <a:solidFill>
                  <a:srgbClr val="1C2736"/>
                </a:solidFill>
                <a:latin typeface="Calibri"/>
              </a:rPr>
              <a:t> PoC on 1 dataset / 1 task, small n, wide CI.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5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1C2736"/>
                </a:solidFill>
                <a:latin typeface="Calibri"/>
              </a:rPr>
              <a:t>Future:</a:t>
            </a:r>
            <a:r>
              <a:rPr sz="1500" b="0" i="0">
                <a:solidFill>
                  <a:srgbClr val="1C2736"/>
                </a:solidFill>
                <a:latin typeface="Calibri"/>
              </a:rPr>
              <a:t> richer images (multi-window, 2.5D) + external validation.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3813048"/>
            <a:ext cx="8412480" cy="5486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3877056"/>
            <a:ext cx="8193023" cy="42062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F558C"/>
                </a:solidFill>
                <a:latin typeface="Calibri"/>
              </a:rPr>
              <a:t>Closing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We don't claim to have arrived — we map the road and say where it's still steep.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MedRegA Improvements · Gemma 4 E4B (liver tumor, LiTS)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