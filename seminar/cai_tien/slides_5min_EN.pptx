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1945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9144000" cy="2103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72768"/>
            <a:ext cx="822960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mbria"/>
              </a:rPr>
              <a:t>Our Improvements on MedRegA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78608"/>
            <a:ext cx="82296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Fine-tuning Gemma 4 E4B for liver-tumor detection on CT (LiTS)</a:t>
            </a:r>
          </a:p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A small model — honest about evaluation &amp; reliability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82296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00" b="0" i="0">
                <a:solidFill>
                  <a:srgbClr val="6B7F95"/>
                </a:solidFill>
                <a:latin typeface="Calibri"/>
              </a:rPr>
              <a:t>Deep Learning Seminar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696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Our architecture &amp;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24127"/>
            <a:ext cx="512064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Backbone: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 Gemma 4 E4B (~8B) — 5× smaller than MedRegA (~40B), runs on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1 GPU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;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unlock the vision tower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 to learn medical features.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Data: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 multi-slice +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negatives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 (no tumor) +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multi-box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 (per-lesion) — vs paper's single slice; split by patient.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Training: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 LoRA (LLM) + full fine-tune vision; boxes written as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coordinate text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 (0–1000).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Evaluation (main contribution):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 per-patient + CI,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detection/localization split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,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selective prediction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 (knows when unsure).</a:t>
            </a:r>
          </a:p>
        </p:txBody>
      </p:sp>
      <p:pic>
        <p:nvPicPr>
          <p:cNvPr id="5" name="Picture 4" descr="iou_frozen_vs_unfrozen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161287"/>
            <a:ext cx="3200400" cy="2556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3744856"/>
            <a:ext cx="3200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800" b="0" i="1">
                <a:solidFill>
                  <a:srgbClr val="6B7F95"/>
                </a:solidFill>
                <a:latin typeface="Calibri"/>
              </a:rPr>
              <a:t>Unlocking vision = the key step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696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Results vs baseline (zero-shot → fine-tuned)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69848"/>
          <a:ext cx="502920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188720"/>
                <a:gridCol w="11887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C2736"/>
                          </a:solidFill>
                          <a:latin typeface="Calibri"/>
                        </a:rPr>
                        <a:t>Detection F1 (patient)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0.33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C2736"/>
                          </a:solidFill>
                          <a:latin typeface="Calibri"/>
                        </a:rPr>
                        <a:t>Sensitivity (catch tumor)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80%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C2736"/>
                          </a:solidFill>
                          <a:latin typeface="Calibri"/>
                        </a:rPr>
                        <a:t>Localization pIoU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0.002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0.27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C2736"/>
                          </a:solidFill>
                          <a:latin typeface="Calibri"/>
                        </a:rPr>
                        <a:t>recall@IoU 0.25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54%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C2736"/>
                          </a:solidFill>
                          <a:latin typeface="Calibri"/>
                        </a:rPr>
                        <a:t>False-positive (neg. slice)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2.2%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172968"/>
            <a:ext cx="50292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2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00" b="1" i="0">
                <a:solidFill>
                  <a:srgbClr val="1C2736"/>
                </a:solidFill>
                <a:latin typeface="Calibri"/>
              </a:rPr>
              <a:t>No forgetting:</a:t>
            </a:r>
            <a:r>
              <a:rPr sz="1200" b="0" i="0">
                <a:solidFill>
                  <a:srgbClr val="1C2736"/>
                </a:solidFill>
                <a:latin typeface="Calibri"/>
              </a:rPr>
              <a:t> still chats / JSON / poem / math (LoRA keeps base weights).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767328"/>
            <a:ext cx="5029200" cy="640080"/>
          </a:xfrm>
          <a:prstGeom prst="rect">
            <a:avLst/>
          </a:prstGeom>
          <a:solidFill>
            <a:srgbClr val="F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3831336"/>
            <a:ext cx="4809744" cy="51206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A04646"/>
                </a:solidFill>
                <a:latin typeface="Calibri"/>
              </a:rPr>
              <a:t>⚠ Note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small n (~25 pos patients, 2 neg) → wide CI; this is a PoC, no clinical claim.</a:t>
            </a:r>
          </a:p>
        </p:txBody>
      </p:sp>
      <p:pic>
        <p:nvPicPr>
          <p:cNvPr id="8" name="Picture 7" descr="detect_before_afte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252728"/>
            <a:ext cx="3383280" cy="19537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577840" y="3233885"/>
            <a:ext cx="3383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800" b="0" i="1">
                <a:solidFill>
                  <a:srgbClr val="6B7F95"/>
                </a:solidFill>
                <a:latin typeface="Calibri"/>
              </a:rPr>
              <a:t>Before → after fine-tune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696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Results vs MedRegA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69848"/>
          <a:ext cx="548640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Aspect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MedRegA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C2736"/>
                          </a:solidFill>
                          <a:latin typeface="Calibri"/>
                        </a:rPr>
                        <a:t>Scale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~40B, 16×H800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~8B, 1 GPU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C2736"/>
                          </a:solidFill>
                          <a:latin typeface="Calibri"/>
                        </a:rPr>
                        <a:t>Into 3D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1 central slice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multi-slice + negatives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C2736"/>
                          </a:solidFill>
                          <a:latin typeface="Calibri"/>
                        </a:rPr>
                        <a:t>Eval unit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per-image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per-patient + CI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C2736"/>
                          </a:solidFill>
                          <a:latin typeface="Calibri"/>
                        </a:rPr>
                        <a:t>Detect vs Localize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merged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separated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C2736"/>
                          </a:solidFill>
                          <a:latin typeface="Calibri"/>
                        </a:rPr>
                        <a:t>Negatives / Uncertainty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FP + selective prediction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C2736"/>
                          </a:solidFill>
                          <a:latin typeface="Calibri"/>
                        </a:rPr>
                        <a:t>Localization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IoU ~0.23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pIoU ~0.27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989320" y="1115568"/>
            <a:ext cx="2834640" cy="21945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9048" y="1179576"/>
            <a:ext cx="2615184" cy="206654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Read it correctly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NOT a direct number match (different data/metric); pIoU is PENALIZED, so stricter. Real contribution = honest evaluation + reliability layer.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696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841248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Proof of mechanism: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 region-centric (localize-then-read) is feasible at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~8B, 1 GPU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Value: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 honest evaluation + selective prediction — not the score.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Honest: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 PoC on 1 dataset / 1 task, small n, wide CI.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Future: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 richer images (multi-window, 2.5D) + external validation.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3813048"/>
            <a:ext cx="8412480" cy="5486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3877056"/>
            <a:ext cx="8193023" cy="42062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Closing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We don't claim to have arrived — we map the road and say where it's still steep.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