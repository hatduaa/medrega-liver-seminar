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mở. Chúng em chọn hướng ngược với MedRegA: mô hình nhỏ, một bệnh (u gan), nhưng đào sâu phương pháp đánh giá và độ tin cậy.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Sai vùng không phải lỗi nhỏ về câu chữ — nó đổi luôn chẩn đoán. Đó là lý do 'region-centric' ra đời.</a:t>
            </a:r>
          </a:p>
          <a:p/>
          <a:p>
            <a:r>
              <a:t>region-agnostic = mô hình không có khái niệm vùng, xử lý cả ảnh như một khối.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Thay vì gắn thêm 'đầu phát hiện', MedRegA dạy model VIẾT toạ độ ra như một câu chữ — tận dụng thẳng sức mạnh ngôn ngữ.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Hai giai đoạn — đầu tiên dạy 'cầu' nối ảnh–chữ, sau đó dạy 'não' làm việc theo lệnh. Box chỉ là chữ nên vẫn dùng loss ngôn ngữ bình thường.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Paper mạnh về quy mô và benchmark. Chúng em không nói nó thiếu metric vùng — nó có 4 hạn chế để mình lấp.</a:t>
            </a:r>
          </a:p>
          <a:p/>
          <a:p>
            <a:r>
              <a:t>IoU = độ chồng lấn box (0–1). pseudoreplication = coi các lát phụ thuộc như độc lập → thổi phồng cỡ mẫu.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Bản lề — 4 hạn chế bên trái, 4 lớp vá bên phải: mở khoá thị giác, dữ liệu đa lát+ca âm, huấn luyện 1 GPU, và lớp đánh giá gần lâm sàng.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Đóng góp đầu tiên là chứng minh khả thi — tái tạo năng lực khoanh vùng trên mô hình nhỏ hơn nhiều, chỉ 1 GPU. Triết lý: đổi 'rộng' (8 modality) lấy 'sâu' (1 task).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Paper chỉ dùng lát trung tâm, không có ca âm. Chúng em thêm cả hai — nhưng 5 lát của một người tương quan cao, nên đếm bằng bệnh nhân, không đếm bằng lát.</a:t>
            </a:r>
          </a:p>
          <a:p/>
          <a:p>
            <a:r>
              <a:t>connected-components = gán nhãn từng vùng pixel liên thông (scipy.ndimage.label).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Chúng em kể cả cái hỏng — v4 vừa có rủi ro cân loss vừa có lỗi checkpoint nên bị loại. Bài học là kiểm soát cả loss lẫn quy trình load/merge.</a:t>
            </a:r>
          </a:p>
          <a:p/>
          <a:p>
            <a:r>
              <a:t>BCE = Binary Cross-Entropy (loss phân loại nhị phân). recall@0.25 = bắt được tính là đúng nếu IoU≥0.25.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Đóng góp lớn nhất ở phương pháp đánh giá — có/không u, khoanh ở đâu, khi nào đưa bác sĩ xem lại — rút thẳng từ lần sinh, không thêm mạng phụ.</a:t>
            </a:r>
          </a:p>
          <a:p/>
          <a:p>
            <a:r>
              <a:t>bootstrap CI = lấy mẫu lại nhiều lần ước lượng dao động. conformal = đặt ngưỡng có bảo đảm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Bắt đúng 20/25 bệnh nhân, FP thấp. Nhưng 100% kia đứng trên 2 người — chúng em không dùng nó để claim specificity lâm sàng.</a:t>
            </a:r>
          </a:p>
          <a:p>
            <a:r>
              <a:t>Zero-shot gần như luôn trả 'No liver tumor is found' → fine-tune dạy được task từ số 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Định vị mới trung bình, chúng em không giấu. Ca sót nghiêng về u nhỏ VÀ tương phản thấp — cả hai cùng góp.</a:t>
            </a:r>
          </a:p>
          <a:p/>
          <a:p>
            <a:r>
              <a:t>isointense = đồng tỉ trọng. pIoU = IoU có phạt khi dư/thiếu box. 'kích thước' = diện tích box 2D (proxy), không phải thể tích thật.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Model vừa khoanh được u, vừa theo lệnh chính xác, giải thích song ngữ, làm thơ, tính 17×23=391. Nhờ LoRA giữ nguyên trọng số gốc — thêm kỹ năng mà không quên. Kiểm định tính, chưa đo MMLU nên chưa dám nói bảo toàn hoàn toàn.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Chúng em không claim đánh bại MedRegA. Đóng góp là biến benchmark định vị thành workflow đánh giá gần lâm sàng: có/không u, khoanh ở đâu, khi nào không nên tin.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Mạch 1 — làm ảnh giàu hơn (multi-window, 2.5D, đa pha) và kết quả đáng tin hơn (external validation, thêm ca âm). ①⑤ nối thẳng số Kết quả; ②③ suy từ thiết kế nên ghi rõ CHƯA đo.</a:t>
            </a:r>
          </a:p>
          <a:p/>
          <a:p>
            <a:r>
              <a:t>External validation = kiểm trên bộ CT khác (IRCADb/MSD). FROC = đường cong phát hiện đa tổn thương. calibration = hiệu chỉnh độ tự tin.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nói: Mạch 2 — từ chỉ-chỗ tiến tới nói-có-dẫn-chứng rồi generalist đa cơ quan. Kể cả thí nghiệm hỏng ⑧ cũng đẻ ra một hướng. Tên tool (MedSAM/FROC/IRCADb) cần tự xác minh nguồn.</a:t>
            </a:r>
          </a:p>
          <a:p/>
          <a:p>
            <a:r>
              <a:t>MedSAM = mô hình phân vùng ảnh y tế. polygon-as-token = viết đường viền u thành chuỗi toạ độ. GIoU = IoU tổng quát.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chốt: Chúng em không claim đánh bại MedRegA về quy mô hay SOTA. Đóng góp chính là biến một benchmark định vị vùng thành workflow đánh giá gần lâm sàng hơn, và trung thực về giới hạn.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219456"/>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7320"/>
            <a:ext cx="9144000" cy="21031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00200"/>
            <a:ext cx="8229600" cy="914400"/>
          </a:xfrm>
          <a:prstGeom prst="rect">
            <a:avLst/>
          </a:prstGeom>
          <a:noFill/>
        </p:spPr>
        <p:txBody>
          <a:bodyPr wrap="square" anchor="ctr" lIns="25400" rIns="25400" tIns="12700" bIns="12700">
            <a:spAutoFit/>
          </a:bodyPr>
          <a:lstStyle/>
          <a:p>
            <a:pPr algn="ctr"/>
            <a:r>
              <a:rPr sz="4000" b="1" i="0">
                <a:solidFill>
                  <a:srgbClr val="FFFFFF"/>
                </a:solidFill>
                <a:latin typeface="Cambria"/>
              </a:rPr>
              <a:t>Cải tiến MedRegA</a:t>
            </a:r>
          </a:p>
        </p:txBody>
      </p:sp>
      <p:sp>
        <p:nvSpPr>
          <p:cNvPr id="5" name="TextBox 4"/>
          <p:cNvSpPr txBox="1"/>
          <p:nvPr/>
        </p:nvSpPr>
        <p:spPr>
          <a:xfrm>
            <a:off x="457200" y="2560320"/>
            <a:ext cx="8229600" cy="822960"/>
          </a:xfrm>
          <a:prstGeom prst="rect">
            <a:avLst/>
          </a:prstGeom>
          <a:noFill/>
        </p:spPr>
        <p:txBody>
          <a:bodyPr wrap="square" anchor="t" lIns="25400" rIns="25400" tIns="12700" bIns="12700">
            <a:spAutoFit/>
          </a:bodyPr>
          <a:lstStyle/>
          <a:p>
            <a:pPr algn="ctr"/>
            <a:r>
              <a:rPr sz="1500" b="0" i="0">
                <a:solidFill>
                  <a:srgbClr val="B8CFE0"/>
                </a:solidFill>
                <a:latin typeface="Calibri"/>
              </a:rPr>
              <a:t>Fine-tune Gemma 4 E4B phát hiện u gan trên CT (LiTS)</a:t>
            </a:r>
          </a:p>
          <a:p>
            <a:pPr algn="ctr"/>
            <a:r>
              <a:rPr sz="1500" b="0" i="0">
                <a:solidFill>
                  <a:srgbClr val="B8CFE0"/>
                </a:solidFill>
                <a:latin typeface="Calibri"/>
              </a:rPr>
              <a:t>Đi sâu trên mô hình nhỏ — trung thực về đánh giá &amp; độ tin cậy</a:t>
            </a:r>
          </a:p>
        </p:txBody>
      </p:sp>
      <p:sp>
        <p:nvSpPr>
          <p:cNvPr id="6" name="Rectangle 5"/>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4937760"/>
            <a:ext cx="8229600" cy="164592"/>
          </a:xfrm>
          <a:prstGeom prst="rect">
            <a:avLst/>
          </a:prstGeom>
          <a:noFill/>
        </p:spPr>
        <p:txBody>
          <a:bodyPr wrap="square" anchor="t" lIns="25400" rIns="25400" tIns="12700" bIns="12700">
            <a:spAutoFit/>
          </a:bodyPr>
          <a:lstStyle/>
          <a:p>
            <a:r>
              <a:rPr sz="900" b="0" i="0">
                <a:solidFill>
                  <a:srgbClr val="6B7F95"/>
                </a:solidFill>
                <a:latin typeface="Calibri"/>
              </a:rPr>
              <a:t>Seminar Học sâu · 2026 · dựa trên MedRegA (Wang et al., ICLR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Vấn đề lâm sàng: vì sao cần “biết vùng”</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A — Phương pháp gốc MedRegA</a:t>
            </a:r>
          </a:p>
        </p:txBody>
      </p:sp>
      <p:sp>
        <p:nvSpPr>
          <p:cNvPr id="5" name="TextBox 4"/>
          <p:cNvSpPr txBox="1"/>
          <p:nvPr/>
        </p:nvSpPr>
        <p:spPr>
          <a:xfrm>
            <a:off x="365760" y="1298448"/>
            <a:ext cx="4937760" cy="3200400"/>
          </a:xfrm>
          <a:prstGeom prst="rect">
            <a:avLst/>
          </a:prstGeom>
          <a:noFill/>
        </p:spPr>
        <p:txBody>
          <a:bodyPr wrap="square" anchor="t" lIns="25400" rIns="25400" tIns="12700" bIns="12700">
            <a:spAutoFit/>
          </a:bodyPr>
          <a:lstStyle/>
          <a:p>
            <a:pPr>
              <a:spcBef>
                <a:spcPts val="0"/>
              </a:spcBef>
              <a:spcAft>
                <a:spcPts val="600"/>
              </a:spcAft>
            </a:pPr>
            <a:r>
              <a:rPr sz="1250" b="1" i="0">
                <a:solidFill>
                  <a:srgbClr val="1A3A5C"/>
                </a:solidFill>
                <a:latin typeface="Calibri"/>
              </a:rPr>
              <a:t>▪  </a:t>
            </a:r>
            <a:r>
              <a:rPr sz="1250" b="0" i="0">
                <a:solidFill>
                  <a:srgbClr val="1C2736"/>
                </a:solidFill>
                <a:latin typeface="Calibri"/>
              </a:rPr>
              <a:t>Bác sĩ đọc phim: nhìn toàn ảnh → </a:t>
            </a:r>
            <a:r>
              <a:rPr sz="1250" b="1" i="0">
                <a:solidFill>
                  <a:srgbClr val="1C2736"/>
                </a:solidFill>
                <a:latin typeface="Calibri"/>
              </a:rPr>
              <a:t>khoanh vùng</a:t>
            </a:r>
            <a:r>
              <a:rPr sz="1250" b="0" i="0">
                <a:solidFill>
                  <a:srgbClr val="1C2736"/>
                </a:solidFill>
                <a:latin typeface="Calibri"/>
              </a:rPr>
              <a:t> → mô tả → chẩn đoán kèm vị trí.</a:t>
            </a:r>
          </a:p>
          <a:p>
            <a:pPr>
              <a:spcBef>
                <a:spcPts val="0"/>
              </a:spcBef>
              <a:spcAft>
                <a:spcPts val="600"/>
              </a:spcAft>
            </a:pPr>
            <a:r>
              <a:rPr sz="1250" b="1" i="0">
                <a:solidFill>
                  <a:srgbClr val="1A3A5C"/>
                </a:solidFill>
                <a:latin typeface="Calibri"/>
              </a:rPr>
              <a:t>▪  </a:t>
            </a:r>
            <a:r>
              <a:rPr sz="1250" b="0" i="0">
                <a:solidFill>
                  <a:srgbClr val="1C2736"/>
                </a:solidFill>
                <a:latin typeface="Calibri"/>
              </a:rPr>
              <a:t>Model </a:t>
            </a:r>
            <a:r>
              <a:rPr sz="1250" b="1" i="0">
                <a:solidFill>
                  <a:srgbClr val="1C2736"/>
                </a:solidFill>
                <a:latin typeface="Calibri"/>
              </a:rPr>
              <a:t>region-agnostic</a:t>
            </a:r>
            <a:r>
              <a:rPr sz="1250" b="0" i="0">
                <a:solidFill>
                  <a:srgbClr val="1C2736"/>
                </a:solidFill>
                <a:latin typeface="Calibri"/>
              </a:rPr>
              <a:t> (không biết vùng): nén cả ảnh thành 1 vector rồi sinh chữ → bỏ mất bước khoanh vùng.</a:t>
            </a:r>
          </a:p>
          <a:p>
            <a:pPr lvl="1">
              <a:spcBef>
                <a:spcPts val="0"/>
              </a:spcBef>
              <a:spcAft>
                <a:spcPts val="600"/>
              </a:spcAft>
            </a:pPr>
            <a:r>
              <a:rPr sz="1250" b="0" i="0">
                <a:solidFill>
                  <a:srgbClr val="757070"/>
                </a:solidFill>
                <a:latin typeface="Calibri"/>
              </a:rPr>
              <a:t>–  </a:t>
            </a:r>
            <a:r>
              <a:rPr sz="1200" b="0" i="0">
                <a:solidFill>
                  <a:srgbClr val="757070"/>
                </a:solidFill>
                <a:latin typeface="Calibri"/>
              </a:rPr>
              <a:t>Hệ quả: </a:t>
            </a:r>
            <a:r>
              <a:rPr sz="1200" b="1" i="0">
                <a:solidFill>
                  <a:srgbClr val="757070"/>
                </a:solidFill>
                <a:latin typeface="Calibri"/>
              </a:rPr>
              <a:t>sai vị trí kéo theo sai chẩn đoán</a:t>
            </a:r>
            <a:r>
              <a:rPr sz="1200" b="0" i="0">
                <a:solidFill>
                  <a:srgbClr val="757070"/>
                </a:solidFill>
                <a:latin typeface="Calibri"/>
              </a:rPr>
              <a:t>, bác sĩ không kiểm chứng được.</a:t>
            </a:r>
          </a:p>
          <a:p>
            <a:pPr>
              <a:spcBef>
                <a:spcPts val="0"/>
              </a:spcBef>
              <a:spcAft>
                <a:spcPts val="600"/>
              </a:spcAft>
            </a:pPr>
            <a:r>
              <a:rPr sz="1250" b="1" i="0">
                <a:solidFill>
                  <a:srgbClr val="1A3A5C"/>
                </a:solidFill>
                <a:latin typeface="Calibri"/>
              </a:rPr>
              <a:t>▪  </a:t>
            </a:r>
            <a:r>
              <a:rPr sz="1250" b="0" i="0">
                <a:solidFill>
                  <a:srgbClr val="1C2736"/>
                </a:solidFill>
                <a:latin typeface="Calibri"/>
              </a:rPr>
              <a:t>MedRegA vá đúng chỗ này: bắt model </a:t>
            </a:r>
            <a:r>
              <a:rPr sz="1250" b="1" i="0">
                <a:solidFill>
                  <a:srgbClr val="1C2736"/>
                </a:solidFill>
                <a:latin typeface="Calibri"/>
              </a:rPr>
              <a:t>sinh kèm toạ độ vùng</a:t>
            </a:r>
            <a:r>
              <a:rPr sz="1250" b="0" i="0">
                <a:solidFill>
                  <a:srgbClr val="1C2736"/>
                </a:solidFill>
                <a:latin typeface="Calibri"/>
              </a:rPr>
              <a:t> → mỗi nhận định neo vào đúng pixel.</a:t>
            </a:r>
          </a:p>
        </p:txBody>
      </p:sp>
      <p:pic>
        <p:nvPicPr>
          <p:cNvPr id="6" name="Picture 5" descr="fig2_left.png"/>
          <p:cNvPicPr>
            <a:picLocks noChangeAspect="1"/>
          </p:cNvPicPr>
          <p:nvPr/>
        </p:nvPicPr>
        <p:blipFill>
          <a:blip r:embed="rId2"/>
          <a:stretch>
            <a:fillRect/>
          </a:stretch>
        </p:blipFill>
        <p:spPr>
          <a:xfrm>
            <a:off x="5349240" y="1874519"/>
            <a:ext cx="3703320" cy="2204788"/>
          </a:xfrm>
          <a:prstGeom prst="rect">
            <a:avLst/>
          </a:prstGeom>
        </p:spPr>
      </p:pic>
      <p:sp>
        <p:nvSpPr>
          <p:cNvPr id="7" name="TextBox 6"/>
          <p:cNvSpPr txBox="1"/>
          <p:nvPr/>
        </p:nvSpPr>
        <p:spPr>
          <a:xfrm>
            <a:off x="5349240" y="4097595"/>
            <a:ext cx="3703320" cy="320040"/>
          </a:xfrm>
          <a:prstGeom prst="rect">
            <a:avLst/>
          </a:prstGeom>
          <a:noFill/>
        </p:spPr>
        <p:txBody>
          <a:bodyPr wrap="square" anchor="t" lIns="25400" rIns="25400" tIns="12700" bIns="12700">
            <a:spAutoFit/>
          </a:bodyPr>
          <a:lstStyle/>
          <a:p>
            <a:pPr algn="ctr"/>
            <a:r>
              <a:rPr sz="750" b="0" i="1">
                <a:solidFill>
                  <a:srgbClr val="6B7F95"/>
                </a:solidFill>
                <a:latin typeface="Calibri"/>
              </a:rPr>
              <a:t>MedDr sai vùng vs MedRegA đúng vùng — Fig.2a</a:t>
            </a:r>
          </a:p>
        </p:txBody>
      </p:sp>
      <p:sp>
        <p:nvSpPr>
          <p:cNvPr id="8" name="Rectangle 7"/>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10" name="TextBox 9"/>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Kiến trúc MedRegA (4 khối)</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A — Phương pháp gốc</a:t>
            </a:r>
          </a:p>
        </p:txBody>
      </p:sp>
      <p:sp>
        <p:nvSpPr>
          <p:cNvPr id="5" name="TextBox 4"/>
          <p:cNvSpPr txBox="1"/>
          <p:nvPr/>
        </p:nvSpPr>
        <p:spPr>
          <a:xfrm>
            <a:off x="365760" y="1298448"/>
            <a:ext cx="5029200" cy="3291840"/>
          </a:xfrm>
          <a:prstGeom prst="rect">
            <a:avLst/>
          </a:prstGeom>
          <a:noFill/>
        </p:spPr>
        <p:txBody>
          <a:bodyPr wrap="square" anchor="t" lIns="25400" rIns="25400" tIns="12700" bIns="12700">
            <a:spAutoFit/>
          </a:bodyPr>
          <a:lstStyle/>
          <a:p>
            <a:pPr>
              <a:spcBef>
                <a:spcPts val="0"/>
              </a:spcBef>
              <a:spcAft>
                <a:spcPts val="600"/>
              </a:spcAft>
            </a:pPr>
            <a:r>
              <a:rPr sz="1250" b="1" i="0">
                <a:solidFill>
                  <a:srgbClr val="1A3A5C"/>
                </a:solidFill>
                <a:latin typeface="Calibri"/>
              </a:rPr>
              <a:t>▪  </a:t>
            </a:r>
            <a:r>
              <a:rPr sz="1250" b="0" i="0">
                <a:solidFill>
                  <a:srgbClr val="1C2736"/>
                </a:solidFill>
                <a:latin typeface="Calibri"/>
              </a:rPr>
              <a:t>Xây trên </a:t>
            </a:r>
            <a:r>
              <a:rPr sz="1250" b="1" i="0">
                <a:solidFill>
                  <a:srgbClr val="1C2736"/>
                </a:solidFill>
                <a:latin typeface="Calibri"/>
              </a:rPr>
              <a:t>InternVL 1.2 (~40B tham số)</a:t>
            </a:r>
            <a:r>
              <a:rPr sz="1250" b="0" i="0">
                <a:solidFill>
                  <a:srgbClr val="1C2736"/>
                </a:solidFill>
                <a:latin typeface="Calibri"/>
              </a:rPr>
              <a:t> — 4 khối nối tiếp:</a:t>
            </a:r>
          </a:p>
          <a:p>
            <a:pPr lvl="1">
              <a:spcBef>
                <a:spcPts val="0"/>
              </a:spcBef>
              <a:spcAft>
                <a:spcPts val="600"/>
              </a:spcAft>
            </a:pPr>
            <a:r>
              <a:rPr sz="1250" b="0" i="0">
                <a:solidFill>
                  <a:srgbClr val="757070"/>
                </a:solidFill>
                <a:latin typeface="Calibri"/>
              </a:rPr>
              <a:t>–  </a:t>
            </a:r>
            <a:r>
              <a:rPr sz="1200" b="1" i="0">
                <a:solidFill>
                  <a:srgbClr val="757070"/>
                </a:solidFill>
                <a:latin typeface="Calibri"/>
              </a:rPr>
              <a:t>Vision Encoder</a:t>
            </a:r>
            <a:r>
              <a:rPr sz="1200" b="0" i="0">
                <a:solidFill>
                  <a:srgbClr val="757070"/>
                </a:solidFill>
                <a:latin typeface="Calibri"/>
              </a:rPr>
              <a:t> (“mắt”): InternViT-6B, ảnh 448×448 → lưới token 32×32.</a:t>
            </a:r>
          </a:p>
          <a:p>
            <a:pPr lvl="1">
              <a:spcBef>
                <a:spcPts val="0"/>
              </a:spcBef>
              <a:spcAft>
                <a:spcPts val="600"/>
              </a:spcAft>
            </a:pPr>
            <a:r>
              <a:rPr sz="1250" b="0" i="0">
                <a:solidFill>
                  <a:srgbClr val="757070"/>
                </a:solidFill>
                <a:latin typeface="Calibri"/>
              </a:rPr>
              <a:t>–  </a:t>
            </a:r>
            <a:r>
              <a:rPr sz="1200" b="1" i="0">
                <a:solidFill>
                  <a:srgbClr val="757070"/>
                </a:solidFill>
                <a:latin typeface="Calibri"/>
              </a:rPr>
              <a:t>Pixel Shuffle</a:t>
            </a:r>
            <a:r>
              <a:rPr sz="1200" b="0" i="0">
                <a:solidFill>
                  <a:srgbClr val="757070"/>
                </a:solidFill>
                <a:latin typeface="Calibri"/>
              </a:rPr>
              <a:t>: dồn/nén token ảnh, giữ cấu trúc 2D.</a:t>
            </a:r>
          </a:p>
          <a:p>
            <a:pPr lvl="1">
              <a:spcBef>
                <a:spcPts val="0"/>
              </a:spcBef>
              <a:spcAft>
                <a:spcPts val="600"/>
              </a:spcAft>
            </a:pPr>
            <a:r>
              <a:rPr sz="1250" b="0" i="0">
                <a:solidFill>
                  <a:srgbClr val="757070"/>
                </a:solidFill>
                <a:latin typeface="Calibri"/>
              </a:rPr>
              <a:t>–  </a:t>
            </a:r>
            <a:r>
              <a:rPr sz="1200" b="1" i="0">
                <a:solidFill>
                  <a:srgbClr val="757070"/>
                </a:solidFill>
                <a:latin typeface="Calibri"/>
              </a:rPr>
              <a:t>MLP Connector</a:t>
            </a:r>
            <a:r>
              <a:rPr sz="1200" b="0" i="0">
                <a:solidFill>
                  <a:srgbClr val="757070"/>
                </a:solidFill>
                <a:latin typeface="Calibri"/>
              </a:rPr>
              <a:t> (“cầu”): chiếu đặc trưng ảnh sang không gian LLM.</a:t>
            </a:r>
          </a:p>
          <a:p>
            <a:pPr lvl="1">
              <a:spcBef>
                <a:spcPts val="0"/>
              </a:spcBef>
              <a:spcAft>
                <a:spcPts val="600"/>
              </a:spcAft>
            </a:pPr>
            <a:r>
              <a:rPr sz="1250" b="0" i="0">
                <a:solidFill>
                  <a:srgbClr val="757070"/>
                </a:solidFill>
                <a:latin typeface="Calibri"/>
              </a:rPr>
              <a:t>–  </a:t>
            </a:r>
            <a:r>
              <a:rPr sz="1200" b="1" i="0">
                <a:solidFill>
                  <a:srgbClr val="757070"/>
                </a:solidFill>
                <a:latin typeface="Calibri"/>
              </a:rPr>
              <a:t>LLM</a:t>
            </a:r>
            <a:r>
              <a:rPr sz="1200" b="0" i="0">
                <a:solidFill>
                  <a:srgbClr val="757070"/>
                </a:solidFill>
                <a:latin typeface="Calibri"/>
              </a:rPr>
              <a:t> (“não”): Nous-Hermes-2-Yi-34B, sinh chữ + suy luận.</a:t>
            </a:r>
          </a:p>
          <a:p>
            <a:pPr>
              <a:spcBef>
                <a:spcPts val="0"/>
              </a:spcBef>
              <a:spcAft>
                <a:spcPts val="600"/>
              </a:spcAft>
            </a:pPr>
            <a:r>
              <a:rPr sz="1250" b="1" i="0">
                <a:solidFill>
                  <a:srgbClr val="1A3A5C"/>
                </a:solidFill>
                <a:latin typeface="Calibri"/>
              </a:rPr>
              <a:t>▪  </a:t>
            </a:r>
            <a:r>
              <a:rPr sz="1250" b="1" i="0">
                <a:solidFill>
                  <a:srgbClr val="1C2736"/>
                </a:solidFill>
                <a:latin typeface="Calibri"/>
              </a:rPr>
              <a:t>Box viết thành CHỮ:</a:t>
            </a:r>
            <a:r>
              <a:rPr sz="1250" b="0" i="0">
                <a:solidFill>
                  <a:srgbClr val="1C2736"/>
                </a:solidFill>
                <a:latin typeface="Calibri"/>
              </a:rPr>
              <a:t> &lt;ref&gt;liver tumor&lt;/ref&gt;&lt;box&gt;[x1,y1,x2,y2]&lt;/box&gt;, toạ độ chuẩn hoá </a:t>
            </a:r>
            <a:r>
              <a:rPr sz="1250" b="1" i="0">
                <a:solidFill>
                  <a:srgbClr val="1C2736"/>
                </a:solidFill>
                <a:latin typeface="Calibri"/>
              </a:rPr>
              <a:t>0–1000</a:t>
            </a:r>
            <a:r>
              <a:rPr sz="1250" b="0" i="0">
                <a:solidFill>
                  <a:srgbClr val="1C2736"/>
                </a:solidFill>
                <a:latin typeface="Calibri"/>
              </a:rPr>
              <a:t> → biến “khoanh vùng” thành “sinh chữ” (không cần đầu phát hiện riêng).</a:t>
            </a:r>
          </a:p>
        </p:txBody>
      </p:sp>
      <p:pic>
        <p:nvPicPr>
          <p:cNvPr id="6" name="Picture 5" descr="fig4_arch.png"/>
          <p:cNvPicPr>
            <a:picLocks noChangeAspect="1"/>
          </p:cNvPicPr>
          <p:nvPr/>
        </p:nvPicPr>
        <p:blipFill>
          <a:blip r:embed="rId2"/>
          <a:stretch>
            <a:fillRect/>
          </a:stretch>
        </p:blipFill>
        <p:spPr>
          <a:xfrm>
            <a:off x="5394960" y="2286000"/>
            <a:ext cx="3611880" cy="1281432"/>
          </a:xfrm>
          <a:prstGeom prst="rect">
            <a:avLst/>
          </a:prstGeom>
        </p:spPr>
      </p:pic>
      <p:sp>
        <p:nvSpPr>
          <p:cNvPr id="7" name="TextBox 6"/>
          <p:cNvSpPr txBox="1"/>
          <p:nvPr/>
        </p:nvSpPr>
        <p:spPr>
          <a:xfrm>
            <a:off x="5394960" y="3585720"/>
            <a:ext cx="3611880" cy="320040"/>
          </a:xfrm>
          <a:prstGeom prst="rect">
            <a:avLst/>
          </a:prstGeom>
          <a:noFill/>
        </p:spPr>
        <p:txBody>
          <a:bodyPr wrap="square" anchor="t" lIns="25400" rIns="25400" tIns="12700" bIns="12700">
            <a:spAutoFit/>
          </a:bodyPr>
          <a:lstStyle/>
          <a:p>
            <a:pPr algn="ctr"/>
            <a:r>
              <a:rPr sz="750" b="0" i="1">
                <a:solidFill>
                  <a:srgbClr val="6B7F95"/>
                </a:solidFill>
                <a:latin typeface="Calibri"/>
              </a:rPr>
              <a:t>Luồng Vision Encoder→Alignment→LLM + box=token (Fig.4)</a:t>
            </a:r>
          </a:p>
        </p:txBody>
      </p:sp>
      <p:sp>
        <p:nvSpPr>
          <p:cNvPr id="8" name="Rectangle 7"/>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10" name="TextBox 9"/>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Huấn luyện MedRegA (2 giai đoạn) + 3 task</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A — Phương pháp gốc</a:t>
            </a:r>
          </a:p>
        </p:txBody>
      </p:sp>
      <p:sp>
        <p:nvSpPr>
          <p:cNvPr id="5" name="TextBox 4"/>
          <p:cNvSpPr txBox="1"/>
          <p:nvPr/>
        </p:nvSpPr>
        <p:spPr>
          <a:xfrm>
            <a:off x="365760" y="1298448"/>
            <a:ext cx="8412480" cy="2011680"/>
          </a:xfrm>
          <a:prstGeom prst="rect">
            <a:avLst/>
          </a:prstGeom>
          <a:noFill/>
        </p:spPr>
        <p:txBody>
          <a:bodyPr wrap="square" anchor="t" lIns="25400" rIns="25400" tIns="12700" bIns="12700">
            <a:spAutoFit/>
          </a:bodyPr>
          <a:lstStyle/>
          <a:p>
            <a:pPr>
              <a:spcBef>
                <a:spcPts val="0"/>
              </a:spcBef>
              <a:spcAft>
                <a:spcPts val="600"/>
              </a:spcAft>
            </a:pPr>
            <a:r>
              <a:rPr sz="1250" b="1" i="0">
                <a:solidFill>
                  <a:srgbClr val="1A3A5C"/>
                </a:solidFill>
                <a:latin typeface="Calibri"/>
              </a:rPr>
              <a:t>▪  </a:t>
            </a:r>
            <a:r>
              <a:rPr sz="1250" b="1" i="0">
                <a:solidFill>
                  <a:srgbClr val="1C2736"/>
                </a:solidFill>
                <a:latin typeface="Calibri"/>
              </a:rPr>
              <a:t>GĐ1 — Alignment:</a:t>
            </a:r>
            <a:r>
              <a:rPr sz="1250" b="0" i="0">
                <a:solidFill>
                  <a:srgbClr val="1C2736"/>
                </a:solidFill>
                <a:latin typeface="Calibri"/>
              </a:rPr>
              <a:t> dạy Connector “phiên dịch” ảnh↔chữ trên cặp ảnh–caption, KHÔNG có box; Vision + LLM đóng băng.</a:t>
            </a:r>
          </a:p>
          <a:p>
            <a:pPr>
              <a:spcBef>
                <a:spcPts val="0"/>
              </a:spcBef>
              <a:spcAft>
                <a:spcPts val="600"/>
              </a:spcAft>
            </a:pPr>
            <a:r>
              <a:rPr sz="1250" b="1" i="0">
                <a:solidFill>
                  <a:srgbClr val="1A3A5C"/>
                </a:solidFill>
                <a:latin typeface="Calibri"/>
              </a:rPr>
              <a:t>▪  </a:t>
            </a:r>
            <a:r>
              <a:rPr sz="1250" b="1" i="0">
                <a:solidFill>
                  <a:srgbClr val="1C2736"/>
                </a:solidFill>
                <a:latin typeface="Calibri"/>
              </a:rPr>
              <a:t>GĐ2 — Instruction tuning:</a:t>
            </a:r>
            <a:r>
              <a:rPr sz="1250" b="0" i="0">
                <a:solidFill>
                  <a:srgbClr val="1C2736"/>
                </a:solidFill>
                <a:latin typeface="Calibri"/>
              </a:rPr>
              <a:t> trên MedRegInstruct (</a:t>
            </a:r>
            <a:r>
              <a:rPr sz="1250" b="1" i="0">
                <a:solidFill>
                  <a:srgbClr val="1C2736"/>
                </a:solidFill>
                <a:latin typeface="Calibri"/>
              </a:rPr>
              <a:t>790K mẫu</a:t>
            </a:r>
            <a:r>
              <a:rPr sz="1250" b="0" i="0">
                <a:solidFill>
                  <a:srgbClr val="1C2736"/>
                </a:solidFill>
                <a:latin typeface="Calibri"/>
              </a:rPr>
              <a:t> = 550K region–text + 240K grounded report, 8 modality, song ngữ Anh–Trung); chỉnh LLM.</a:t>
            </a:r>
          </a:p>
          <a:p>
            <a:pPr>
              <a:spcBef>
                <a:spcPts val="0"/>
              </a:spcBef>
              <a:spcAft>
                <a:spcPts val="600"/>
              </a:spcAft>
            </a:pPr>
            <a:r>
              <a:rPr sz="1250" b="1" i="0">
                <a:solidFill>
                  <a:srgbClr val="1A3A5C"/>
                </a:solidFill>
                <a:latin typeface="Calibri"/>
              </a:rPr>
              <a:t>▪  </a:t>
            </a:r>
            <a:r>
              <a:rPr sz="1250" b="1" i="0">
                <a:solidFill>
                  <a:srgbClr val="1C2736"/>
                </a:solidFill>
                <a:latin typeface="Calibri"/>
              </a:rPr>
              <a:t>3 task region-centric:</a:t>
            </a:r>
            <a:r>
              <a:rPr sz="1250" b="0" i="0">
                <a:solidFill>
                  <a:srgbClr val="1C2736"/>
                </a:solidFill>
                <a:latin typeface="Calibri"/>
              </a:rPr>
              <a:t> Region→Text · </a:t>
            </a:r>
            <a:r>
              <a:rPr sz="1250" b="1" i="0">
                <a:solidFill>
                  <a:srgbClr val="1C2736"/>
                </a:solidFill>
                <a:latin typeface="Calibri"/>
              </a:rPr>
              <a:t>Text→Region (đồ án làm task này)</a:t>
            </a:r>
            <a:r>
              <a:rPr sz="1250" b="0" i="0">
                <a:solidFill>
                  <a:srgbClr val="1C2736"/>
                </a:solidFill>
                <a:latin typeface="Calibri"/>
              </a:rPr>
              <a:t> · Grounded Report.</a:t>
            </a:r>
          </a:p>
          <a:p>
            <a:pPr>
              <a:spcBef>
                <a:spcPts val="0"/>
              </a:spcBef>
              <a:spcAft>
                <a:spcPts val="600"/>
              </a:spcAft>
            </a:pPr>
            <a:r>
              <a:rPr sz="1250" b="1" i="0">
                <a:solidFill>
                  <a:srgbClr val="1A3A5C"/>
                </a:solidFill>
                <a:latin typeface="Calibri"/>
              </a:rPr>
              <a:t>▪  </a:t>
            </a:r>
            <a:r>
              <a:rPr sz="1250" b="0" i="0">
                <a:solidFill>
                  <a:srgbClr val="1C2736"/>
                </a:solidFill>
                <a:latin typeface="Calibri"/>
              </a:rPr>
              <a:t>Loss = </a:t>
            </a:r>
            <a:r>
              <a:rPr sz="1250" b="1" i="0">
                <a:solidFill>
                  <a:srgbClr val="1C2736"/>
                </a:solidFill>
                <a:latin typeface="Calibri"/>
              </a:rPr>
              <a:t>cross-entropy ngôn ngữ thuần</a:t>
            </a:r>
            <a:r>
              <a:rPr sz="1250" b="0" i="0">
                <a:solidFill>
                  <a:srgbClr val="1C2736"/>
                </a:solidFill>
                <a:latin typeface="Calibri"/>
              </a:rPr>
              <a:t> (không có loss hình học cho box); ảnh 3D chỉ lấy </a:t>
            </a:r>
            <a:r>
              <a:rPr sz="1250" b="1" i="0">
                <a:solidFill>
                  <a:srgbClr val="1C2736"/>
                </a:solidFill>
                <a:latin typeface="Calibri"/>
              </a:rPr>
              <a:t>1 lát trung tâm</a:t>
            </a:r>
            <a:r>
              <a:rPr sz="1250" b="0" i="0">
                <a:solidFill>
                  <a:srgbClr val="1C2736"/>
                </a:solidFill>
                <a:latin typeface="Calibri"/>
              </a:rPr>
              <a:t>; </a:t>
            </a:r>
            <a:r>
              <a:rPr sz="1250" b="1" i="0">
                <a:solidFill>
                  <a:srgbClr val="1C2736"/>
                </a:solidFill>
                <a:latin typeface="Calibri"/>
              </a:rPr>
              <a:t>16× H800, vài ngày</a:t>
            </a:r>
            <a:r>
              <a:rPr sz="1250" b="0" i="0">
                <a:solidFill>
                  <a:srgbClr val="1C2736"/>
                </a:solidFill>
                <a:latin typeface="Calibri"/>
              </a:rPr>
              <a:t>.</a:t>
            </a:r>
          </a:p>
        </p:txBody>
      </p:sp>
      <p:pic>
        <p:nvPicPr>
          <p:cNvPr id="6" name="Picture 5" descr="fig4_tasks.png"/>
          <p:cNvPicPr>
            <a:picLocks noChangeAspect="1"/>
          </p:cNvPicPr>
          <p:nvPr/>
        </p:nvPicPr>
        <p:blipFill>
          <a:blip r:embed="rId2"/>
          <a:stretch>
            <a:fillRect/>
          </a:stretch>
        </p:blipFill>
        <p:spPr>
          <a:xfrm>
            <a:off x="1051560" y="3611880"/>
            <a:ext cx="7040880" cy="1158882"/>
          </a:xfrm>
          <a:prstGeom prst="rect">
            <a:avLst/>
          </a:prstGeom>
        </p:spPr>
      </p:pic>
      <p:sp>
        <p:nvSpPr>
          <p:cNvPr id="7" name="TextBox 6"/>
          <p:cNvSpPr txBox="1"/>
          <p:nvPr/>
        </p:nvSpPr>
        <p:spPr>
          <a:xfrm>
            <a:off x="1051560" y="4789049"/>
            <a:ext cx="7040880" cy="320040"/>
          </a:xfrm>
          <a:prstGeom prst="rect">
            <a:avLst/>
          </a:prstGeom>
          <a:noFill/>
        </p:spPr>
        <p:txBody>
          <a:bodyPr wrap="square" anchor="t" lIns="25400" rIns="25400" tIns="12700" bIns="12700">
            <a:spAutoFit/>
          </a:bodyPr>
          <a:lstStyle/>
          <a:p>
            <a:pPr algn="ctr"/>
            <a:r>
              <a:rPr sz="750" b="0" i="1">
                <a:solidFill>
                  <a:srgbClr val="6B7F95"/>
                </a:solidFill>
                <a:latin typeface="Calibri"/>
              </a:rPr>
              <a:t>3 task region-centric: Region→Text · Text→Region · Grounded Report (Fig.4)</a:t>
            </a:r>
          </a:p>
        </p:txBody>
      </p:sp>
      <p:sp>
        <p:nvSpPr>
          <p:cNvPr id="8" name="Rectangle 7"/>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10" name="TextBox 9"/>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Hạn chế của paper gốc (chỗ để mình lấp)</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A — Phương pháp gốc</a:t>
            </a:r>
          </a:p>
        </p:txBody>
      </p:sp>
      <p:sp>
        <p:nvSpPr>
          <p:cNvPr id="5" name="TextBox 4"/>
          <p:cNvSpPr txBox="1"/>
          <p:nvPr/>
        </p:nvSpPr>
        <p:spPr>
          <a:xfrm>
            <a:off x="365760" y="1298448"/>
            <a:ext cx="5029200" cy="3108960"/>
          </a:xfrm>
          <a:prstGeom prst="rect">
            <a:avLst/>
          </a:prstGeom>
          <a:noFill/>
        </p:spPr>
        <p:txBody>
          <a:bodyPr wrap="square" anchor="t" lIns="25400" rIns="25400" tIns="12700" bIns="12700">
            <a:spAutoFit/>
          </a:bodyPr>
          <a:lstStyle/>
          <a:p>
            <a:pPr>
              <a:spcBef>
                <a:spcPts val="0"/>
              </a:spcBef>
              <a:spcAft>
                <a:spcPts val="600"/>
              </a:spcAft>
            </a:pPr>
            <a:r>
              <a:rPr sz="1250" b="1" i="0">
                <a:solidFill>
                  <a:srgbClr val="1A3A5C"/>
                </a:solidFill>
                <a:latin typeface="Calibri"/>
              </a:rPr>
              <a:t>▪  </a:t>
            </a:r>
            <a:r>
              <a:rPr sz="1250" b="0" i="0">
                <a:solidFill>
                  <a:srgbClr val="1C2736"/>
                </a:solidFill>
                <a:latin typeface="Calibri"/>
              </a:rPr>
              <a:t>Dồn gánh nặng lên </a:t>
            </a:r>
            <a:r>
              <a:rPr sz="1250" b="1" i="0">
                <a:solidFill>
                  <a:srgbClr val="1C2736"/>
                </a:solidFill>
                <a:latin typeface="Calibri"/>
              </a:rPr>
              <a:t>LLM 40B</a:t>
            </a:r>
            <a:r>
              <a:rPr sz="1250" b="0" i="0">
                <a:solidFill>
                  <a:srgbClr val="1C2736"/>
                </a:solidFill>
                <a:latin typeface="Calibri"/>
              </a:rPr>
              <a:t>; “mắt” &amp; “cầu” gần như bất động → định vị “được nhưng không sắc” (IoU thấp, sót vùng ở ca nhiều ổ).</a:t>
            </a:r>
          </a:p>
          <a:p>
            <a:pPr>
              <a:spcBef>
                <a:spcPts val="0"/>
              </a:spcBef>
              <a:spcAft>
                <a:spcPts val="600"/>
              </a:spcAft>
            </a:pPr>
            <a:r>
              <a:rPr sz="1250" b="1" i="0">
                <a:solidFill>
                  <a:srgbClr val="1A3A5C"/>
                </a:solidFill>
                <a:latin typeface="Calibri"/>
              </a:rPr>
              <a:t>▪  </a:t>
            </a:r>
            <a:r>
              <a:rPr sz="1250" b="1" i="0">
                <a:solidFill>
                  <a:srgbClr val="1C2736"/>
                </a:solidFill>
                <a:latin typeface="Calibri"/>
              </a:rPr>
              <a:t>Không có abstain</a:t>
            </a:r>
            <a:r>
              <a:rPr sz="1250" b="0" i="0">
                <a:solidFill>
                  <a:srgbClr val="1C2736"/>
                </a:solidFill>
                <a:latin typeface="Calibri"/>
              </a:rPr>
              <a:t> (từ chối khi không chắc); </a:t>
            </a:r>
            <a:r>
              <a:rPr sz="1250" b="1" i="0">
                <a:solidFill>
                  <a:srgbClr val="1C2736"/>
                </a:solidFill>
                <a:latin typeface="Calibri"/>
              </a:rPr>
              <a:t>không dùng ca âm</a:t>
            </a:r>
            <a:r>
              <a:rPr sz="1250" b="0" i="0">
                <a:solidFill>
                  <a:srgbClr val="1C2736"/>
                </a:solidFill>
                <a:latin typeface="Calibri"/>
              </a:rPr>
              <a:t> → không đo được model có bịa box.</a:t>
            </a:r>
          </a:p>
          <a:p>
            <a:pPr>
              <a:spcBef>
                <a:spcPts val="0"/>
              </a:spcBef>
              <a:spcAft>
                <a:spcPts val="600"/>
              </a:spcAft>
            </a:pPr>
            <a:r>
              <a:rPr sz="1250" b="1" i="0">
                <a:solidFill>
                  <a:srgbClr val="1A3A5C"/>
                </a:solidFill>
                <a:latin typeface="Calibri"/>
              </a:rPr>
              <a:t>▪  </a:t>
            </a:r>
            <a:r>
              <a:rPr sz="1250" b="0" i="0">
                <a:solidFill>
                  <a:srgbClr val="1C2736"/>
                </a:solidFill>
                <a:latin typeface="Calibri"/>
              </a:rPr>
              <a:t>Đánh giá </a:t>
            </a:r>
            <a:r>
              <a:rPr sz="1250" b="1" i="0">
                <a:solidFill>
                  <a:srgbClr val="1C2736"/>
                </a:solidFill>
                <a:latin typeface="Calibri"/>
              </a:rPr>
              <a:t>per-image</a:t>
            </a:r>
            <a:r>
              <a:rPr sz="1250" b="0" i="0">
                <a:solidFill>
                  <a:srgbClr val="1C2736"/>
                </a:solidFill>
                <a:latin typeface="Calibri"/>
              </a:rPr>
              <a:t>, nhiều lát cùng bệnh nhân tính như mẫu độc lập (</a:t>
            </a:r>
            <a:r>
              <a:rPr sz="1250" b="1" i="0">
                <a:solidFill>
                  <a:srgbClr val="1C2736"/>
                </a:solidFill>
                <a:latin typeface="Calibri"/>
              </a:rPr>
              <a:t>pseudoreplication</a:t>
            </a:r>
            <a:r>
              <a:rPr sz="1250" b="0" i="0">
                <a:solidFill>
                  <a:srgbClr val="1C2736"/>
                </a:solidFill>
                <a:latin typeface="Calibri"/>
              </a:rPr>
              <a:t>); không khoảng tin cậy.</a:t>
            </a:r>
          </a:p>
          <a:p>
            <a:pPr>
              <a:spcBef>
                <a:spcPts val="0"/>
              </a:spcBef>
              <a:spcAft>
                <a:spcPts val="600"/>
              </a:spcAft>
            </a:pPr>
            <a:r>
              <a:rPr sz="1250" b="1" i="0">
                <a:solidFill>
                  <a:srgbClr val="1A3A5C"/>
                </a:solidFill>
                <a:latin typeface="Calibri"/>
              </a:rPr>
              <a:t>▪  </a:t>
            </a:r>
            <a:r>
              <a:rPr sz="1250" b="0" i="0">
                <a:solidFill>
                  <a:srgbClr val="1C2736"/>
                </a:solidFill>
                <a:latin typeface="Calibri"/>
              </a:rPr>
              <a:t>Chi phí </a:t>
            </a:r>
            <a:r>
              <a:rPr sz="1250" b="1" i="0">
                <a:solidFill>
                  <a:srgbClr val="1C2736"/>
                </a:solidFill>
                <a:latin typeface="Calibri"/>
              </a:rPr>
              <a:t>ngoài tầm</a:t>
            </a:r>
            <a:r>
              <a:rPr sz="1250" b="0" i="0">
                <a:solidFill>
                  <a:srgbClr val="1C2736"/>
                </a:solidFill>
                <a:latin typeface="Calibri"/>
              </a:rPr>
              <a:t> một đồ án sinh viên.</a:t>
            </a:r>
          </a:p>
        </p:txBody>
      </p:sp>
      <p:pic>
        <p:nvPicPr>
          <p:cNvPr id="6" name="Picture 5" descr="fig2_right.png"/>
          <p:cNvPicPr>
            <a:picLocks noChangeAspect="1"/>
          </p:cNvPicPr>
          <p:nvPr/>
        </p:nvPicPr>
        <p:blipFill>
          <a:blip r:embed="rId2"/>
          <a:stretch>
            <a:fillRect/>
          </a:stretch>
        </p:blipFill>
        <p:spPr>
          <a:xfrm>
            <a:off x="5760720" y="1508760"/>
            <a:ext cx="3063240" cy="2523602"/>
          </a:xfrm>
          <a:prstGeom prst="rect">
            <a:avLst/>
          </a:prstGeom>
        </p:spPr>
      </p:pic>
      <p:sp>
        <p:nvSpPr>
          <p:cNvPr id="7" name="TextBox 6"/>
          <p:cNvSpPr txBox="1"/>
          <p:nvPr/>
        </p:nvSpPr>
        <p:spPr>
          <a:xfrm>
            <a:off x="5760720" y="4050650"/>
            <a:ext cx="3063240" cy="320040"/>
          </a:xfrm>
          <a:prstGeom prst="rect">
            <a:avLst/>
          </a:prstGeom>
          <a:noFill/>
        </p:spPr>
        <p:txBody>
          <a:bodyPr wrap="square" anchor="t" lIns="25400" rIns="25400" tIns="12700" bIns="12700">
            <a:spAutoFit/>
          </a:bodyPr>
          <a:lstStyle/>
          <a:p>
            <a:pPr algn="ctr"/>
            <a:r>
              <a:rPr sz="750" b="0" i="1">
                <a:solidFill>
                  <a:srgbClr val="6B7F95"/>
                </a:solidFill>
                <a:latin typeface="Calibri"/>
              </a:rPr>
              <a:t>w/ vs w/o Region: vùng đóng góp lớn (Fig.2b)</a:t>
            </a:r>
          </a:p>
        </p:txBody>
      </p:sp>
      <p:sp>
        <p:nvSpPr>
          <p:cNvPr id="8" name="Rectangle 7"/>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10" name="TextBox 9"/>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Khoảng trống &amp; bản đồ cải tiến</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Bản lề A → B: 4 hạn chế ↔ 4 cải tiến</a:t>
            </a:r>
          </a:p>
        </p:txBody>
      </p:sp>
      <p:graphicFrame>
        <p:nvGraphicFramePr>
          <p:cNvPr id="5" name="Table 4"/>
          <p:cNvGraphicFramePr>
            <a:graphicFrameLocks noGrp="1"/>
          </p:cNvGraphicFramePr>
          <p:nvPr/>
        </p:nvGraphicFramePr>
        <p:xfrm>
          <a:off x="640080" y="1527048"/>
          <a:ext cx="7863840" cy="2514600"/>
        </p:xfrm>
        <a:graphic>
          <a:graphicData uri="http://schemas.openxmlformats.org/drawingml/2006/table">
            <a:tbl>
              <a:tblPr>
                <a:tableStyleId>{5C22544A-7EE6-4342-B048-85BDC9FD1C3A}</a:tableStyleId>
              </a:tblPr>
              <a:tblGrid>
                <a:gridCol w="3931920"/>
                <a:gridCol w="3931920"/>
              </a:tblGrid>
              <a:tr h="502920">
                <a:tc>
                  <a:txBody>
                    <a:bodyPr/>
                    <a:lstStyle/>
                    <a:p>
                      <a:r>
                        <a:rPr sz="1100" b="1" i="0">
                          <a:solidFill>
                            <a:srgbClr val="FFFFFF"/>
                          </a:solidFill>
                          <a:latin typeface="Calibri"/>
                        </a:rPr>
                        <a:t>Hạn chế gốc</a:t>
                      </a:r>
                    </a:p>
                  </a:txBody>
                  <a:tcPr marL="50800" marR="50800" marT="25400" marB="25400" anchor="ctr">
                    <a:solidFill>
                      <a:srgbClr val="1A3A5C"/>
                    </a:solidFill>
                  </a:tcPr>
                </a:tc>
                <a:tc>
                  <a:txBody>
                    <a:bodyPr/>
                    <a:lstStyle/>
                    <a:p>
                      <a:r>
                        <a:rPr sz="1100" b="1" i="0">
                          <a:solidFill>
                            <a:srgbClr val="FFFFFF"/>
                          </a:solidFill>
                          <a:latin typeface="Calibri"/>
                        </a:rPr>
                        <a:t>Cải tiến của nhóm (→Slide)</a:t>
                      </a:r>
                    </a:p>
                  </a:txBody>
                  <a:tcPr marL="50800" marR="50800" marT="25400" marB="25400" anchor="ctr">
                    <a:solidFill>
                      <a:srgbClr val="1A3A5C"/>
                    </a:solidFill>
                  </a:tcPr>
                </a:tc>
              </a:tr>
              <a:tr h="502920">
                <a:tc>
                  <a:txBody>
                    <a:bodyPr/>
                    <a:lstStyle/>
                    <a:p>
                      <a:r>
                        <a:rPr sz="1100" b="1" i="0">
                          <a:solidFill>
                            <a:srgbClr val="1C2736"/>
                          </a:solidFill>
                          <a:latin typeface="Calibri"/>
                        </a:rPr>
                        <a:t>Mắt/cầu bất động (định vị không sắc)</a:t>
                      </a:r>
                    </a:p>
                  </a:txBody>
                  <a:tcPr marL="50800" marR="50800" marT="12700" marB="12700" anchor="ctr">
                    <a:solidFill>
                      <a:srgbClr val="FFFFFF"/>
                    </a:solidFill>
                  </a:tcPr>
                </a:tc>
                <a:tc>
                  <a:txBody>
                    <a:bodyPr/>
                    <a:lstStyle/>
                    <a:p>
                      <a:r>
                        <a:rPr sz="1100" b="0" i="0">
                          <a:solidFill>
                            <a:srgbClr val="1C2736"/>
                          </a:solidFill>
                          <a:latin typeface="Calibri"/>
                        </a:rPr>
                        <a:t>Mở khoá vision (→S6)</a:t>
                      </a:r>
                    </a:p>
                  </a:txBody>
                  <a:tcPr marL="50800" marR="50800" marT="12700" marB="12700" anchor="ctr">
                    <a:solidFill>
                      <a:srgbClr val="FFFFFF"/>
                    </a:solidFill>
                  </a:tcPr>
                </a:tc>
              </a:tr>
              <a:tr h="502920">
                <a:tc>
                  <a:txBody>
                    <a:bodyPr/>
                    <a:lstStyle/>
                    <a:p>
                      <a:r>
                        <a:rPr sz="1100" b="1" i="0">
                          <a:solidFill>
                            <a:srgbClr val="1C2736"/>
                          </a:solidFill>
                          <a:latin typeface="Calibri"/>
                        </a:rPr>
                        <a:t>1 lát trung tâm · không ca âm · box gộp thô</a:t>
                      </a:r>
                    </a:p>
                  </a:txBody>
                  <a:tcPr marL="50800" marR="50800" marT="12700" marB="12700" anchor="ctr">
                    <a:solidFill>
                      <a:srgbClr val="E8F0F8"/>
                    </a:solidFill>
                  </a:tcPr>
                </a:tc>
                <a:tc>
                  <a:txBody>
                    <a:bodyPr/>
                    <a:lstStyle/>
                    <a:p>
                      <a:r>
                        <a:rPr sz="1100" b="0" i="0">
                          <a:solidFill>
                            <a:srgbClr val="1C2736"/>
                          </a:solidFill>
                          <a:latin typeface="Calibri"/>
                        </a:rPr>
                        <a:t>Đa lát + ca âm + multi-box (→S7)</a:t>
                      </a:r>
                    </a:p>
                  </a:txBody>
                  <a:tcPr marL="50800" marR="50800" marT="12700" marB="12700" anchor="ctr">
                    <a:solidFill>
                      <a:srgbClr val="E8F0F8"/>
                    </a:solidFill>
                  </a:tcPr>
                </a:tc>
              </a:tr>
              <a:tr h="502920">
                <a:tc>
                  <a:txBody>
                    <a:bodyPr/>
                    <a:lstStyle/>
                    <a:p>
                      <a:r>
                        <a:rPr sz="1100" b="1" i="0">
                          <a:solidFill>
                            <a:srgbClr val="1C2736"/>
                          </a:solidFill>
                          <a:latin typeface="Calibri"/>
                        </a:rPr>
                        <a:t>Chi phí 16× H800 ngoài tầm</a:t>
                      </a:r>
                    </a:p>
                  </a:txBody>
                  <a:tcPr marL="50800" marR="50800" marT="12700" marB="12700" anchor="ctr">
                    <a:solidFill>
                      <a:srgbClr val="FFFFFF"/>
                    </a:solidFill>
                  </a:tcPr>
                </a:tc>
                <a:tc>
                  <a:txBody>
                    <a:bodyPr/>
                    <a:lstStyle/>
                    <a:p>
                      <a:r>
                        <a:rPr sz="1100" b="0" i="0">
                          <a:solidFill>
                            <a:srgbClr val="1C2736"/>
                          </a:solidFill>
                          <a:latin typeface="Calibri"/>
                        </a:rPr>
                        <a:t>LoRA 1 GPU (→S8)</a:t>
                      </a:r>
                    </a:p>
                  </a:txBody>
                  <a:tcPr marL="50800" marR="50800" marT="12700" marB="12700" anchor="ctr">
                    <a:solidFill>
                      <a:srgbClr val="FFFFFF"/>
                    </a:solidFill>
                  </a:tcPr>
                </a:tc>
              </a:tr>
              <a:tr h="502920">
                <a:tc>
                  <a:txBody>
                    <a:bodyPr/>
                    <a:lstStyle/>
                    <a:p>
                      <a:r>
                        <a:rPr sz="1100" b="1" i="0">
                          <a:solidFill>
                            <a:srgbClr val="1C2736"/>
                          </a:solidFill>
                          <a:latin typeface="Calibri"/>
                        </a:rPr>
                        <a:t>Per-image · không CI · không abstain</a:t>
                      </a:r>
                    </a:p>
                  </a:txBody>
                  <a:tcPr marL="50800" marR="50800" marT="12700" marB="12700" anchor="ctr">
                    <a:solidFill>
                      <a:srgbClr val="E8F0F8"/>
                    </a:solidFill>
                  </a:tcPr>
                </a:tc>
                <a:tc>
                  <a:txBody>
                    <a:bodyPr/>
                    <a:lstStyle/>
                    <a:p>
                      <a:r>
                        <a:rPr sz="1100" b="0" i="0">
                          <a:solidFill>
                            <a:srgbClr val="1C2736"/>
                          </a:solidFill>
                          <a:latin typeface="Calibri"/>
                        </a:rPr>
                        <a:t>Per-patient + CI + selective prediction (→S9)</a:t>
                      </a:r>
                    </a:p>
                  </a:txBody>
                  <a:tcPr marL="50800" marR="50800" marT="12700" marB="12700" anchor="ctr">
                    <a:solidFill>
                      <a:srgbClr val="E8F0F8"/>
                    </a:solidFill>
                  </a:tcPr>
                </a:tc>
              </a:tr>
            </a:tbl>
          </a:graphicData>
        </a:graphic>
      </p:graphicFrame>
      <p:sp>
        <p:nvSpPr>
          <p:cNvPr id="6" name="Rectangle 5"/>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8" name="TextBox 7"/>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Cải tiến (1): đổi backbone — nhỏ 5×, chạy 1 GPU</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B — Cải tiến của nhóm</a:t>
            </a:r>
          </a:p>
        </p:txBody>
      </p:sp>
      <p:graphicFrame>
        <p:nvGraphicFramePr>
          <p:cNvPr id="5" name="Table 4"/>
          <p:cNvGraphicFramePr>
            <a:graphicFrameLocks noGrp="1"/>
          </p:cNvGraphicFramePr>
          <p:nvPr/>
        </p:nvGraphicFramePr>
        <p:xfrm>
          <a:off x="365760" y="1344168"/>
          <a:ext cx="5029200" cy="1536192"/>
        </p:xfrm>
        <a:graphic>
          <a:graphicData uri="http://schemas.openxmlformats.org/drawingml/2006/table">
            <a:tbl>
              <a:tblPr>
                <a:tableStyleId>{5C22544A-7EE6-4342-B048-85BDC9FD1C3A}</a:tableStyleId>
              </a:tblPr>
              <a:tblGrid>
                <a:gridCol w="1097280"/>
                <a:gridCol w="2103120"/>
                <a:gridCol w="1828800"/>
              </a:tblGrid>
              <a:tr h="384048">
                <a:tc>
                  <a:txBody>
                    <a:bodyPr/>
                    <a:lstStyle/>
                    <a:p/>
                  </a:txBody>
                  <a:tcPr marL="50800" marR="50800" marT="25400" marB="25400" anchor="ctr">
                    <a:solidFill>
                      <a:srgbClr val="1A3A5C"/>
                    </a:solidFill>
                  </a:tcPr>
                </a:tc>
                <a:tc>
                  <a:txBody>
                    <a:bodyPr/>
                    <a:lstStyle/>
                    <a:p>
                      <a:r>
                        <a:rPr sz="950" b="1" i="0">
                          <a:solidFill>
                            <a:srgbClr val="FFFFFF"/>
                          </a:solidFill>
                          <a:latin typeface="Calibri"/>
                        </a:rPr>
                        <a:t>MedRegA gốc</a:t>
                      </a:r>
                    </a:p>
                  </a:txBody>
                  <a:tcPr marL="50800" marR="50800" marT="25400" marB="25400" anchor="ctr">
                    <a:solidFill>
                      <a:srgbClr val="1A3A5C"/>
                    </a:solidFill>
                  </a:tcPr>
                </a:tc>
                <a:tc>
                  <a:txBody>
                    <a:bodyPr/>
                    <a:lstStyle/>
                    <a:p>
                      <a:r>
                        <a:rPr sz="950" b="1" i="0">
                          <a:solidFill>
                            <a:srgbClr val="FFFFFF"/>
                          </a:solidFill>
                          <a:latin typeface="Calibri"/>
                        </a:rPr>
                        <a:t>Của nhóm</a:t>
                      </a:r>
                    </a:p>
                  </a:txBody>
                  <a:tcPr marL="50800" marR="50800" marT="25400" marB="25400" anchor="ctr">
                    <a:solidFill>
                      <a:srgbClr val="1A3A5C"/>
                    </a:solidFill>
                  </a:tcPr>
                </a:tc>
              </a:tr>
              <a:tr h="384048">
                <a:tc>
                  <a:txBody>
                    <a:bodyPr/>
                    <a:lstStyle/>
                    <a:p>
                      <a:r>
                        <a:rPr sz="950" b="1" i="0">
                          <a:solidFill>
                            <a:srgbClr val="1C2736"/>
                          </a:solidFill>
                          <a:latin typeface="Calibri"/>
                        </a:rPr>
                        <a:t>Backbone</a:t>
                      </a:r>
                    </a:p>
                  </a:txBody>
                  <a:tcPr marL="50800" marR="50800" marT="12700" marB="12700" anchor="ctr">
                    <a:solidFill>
                      <a:srgbClr val="FFFFFF"/>
                    </a:solidFill>
                  </a:tcPr>
                </a:tc>
                <a:tc>
                  <a:txBody>
                    <a:bodyPr/>
                    <a:lstStyle/>
                    <a:p>
                      <a:r>
                        <a:rPr sz="950" b="0" i="0">
                          <a:solidFill>
                            <a:srgbClr val="1C2736"/>
                          </a:solidFill>
                          <a:latin typeface="Calibri"/>
                        </a:rPr>
                        <a:t>InternVL 1.2 (~40B)</a:t>
                      </a:r>
                    </a:p>
                  </a:txBody>
                  <a:tcPr marL="50800" marR="50800" marT="12700" marB="12700" anchor="ctr">
                    <a:solidFill>
                      <a:srgbClr val="FFFFFF"/>
                    </a:solidFill>
                  </a:tcPr>
                </a:tc>
                <a:tc>
                  <a:txBody>
                    <a:bodyPr/>
                    <a:lstStyle/>
                    <a:p>
                      <a:r>
                        <a:rPr sz="950" b="0" i="0">
                          <a:solidFill>
                            <a:srgbClr val="1C2736"/>
                          </a:solidFill>
                          <a:latin typeface="Calibri"/>
                        </a:rPr>
                        <a:t>Gemma 4 E4B (~8B)</a:t>
                      </a:r>
                    </a:p>
                  </a:txBody>
                  <a:tcPr marL="50800" marR="50800" marT="12700" marB="12700" anchor="ctr">
                    <a:solidFill>
                      <a:srgbClr val="FFFFFF"/>
                    </a:solidFill>
                  </a:tcPr>
                </a:tc>
              </a:tr>
              <a:tr h="384048">
                <a:tc>
                  <a:txBody>
                    <a:bodyPr/>
                    <a:lstStyle/>
                    <a:p>
                      <a:r>
                        <a:rPr sz="950" b="1" i="0">
                          <a:solidFill>
                            <a:srgbClr val="1C2736"/>
                          </a:solidFill>
                          <a:latin typeface="Calibri"/>
                        </a:rPr>
                        <a:t>Vision</a:t>
                      </a:r>
                    </a:p>
                  </a:txBody>
                  <a:tcPr marL="50800" marR="50800" marT="12700" marB="12700" anchor="ctr">
                    <a:solidFill>
                      <a:srgbClr val="E8F0F8"/>
                    </a:solidFill>
                  </a:tcPr>
                </a:tc>
                <a:tc>
                  <a:txBody>
                    <a:bodyPr/>
                    <a:lstStyle/>
                    <a:p>
                      <a:r>
                        <a:rPr sz="950" b="0" i="0">
                          <a:solidFill>
                            <a:srgbClr val="1C2736"/>
                          </a:solidFill>
                          <a:latin typeface="Calibri"/>
                        </a:rPr>
                        <a:t>InternViT-6B (đóng băng)</a:t>
                      </a:r>
                    </a:p>
                  </a:txBody>
                  <a:tcPr marL="50800" marR="50800" marT="12700" marB="12700" anchor="ctr">
                    <a:solidFill>
                      <a:srgbClr val="E8F0F8"/>
                    </a:solidFill>
                  </a:tcPr>
                </a:tc>
                <a:tc>
                  <a:txBody>
                    <a:bodyPr/>
                    <a:lstStyle/>
                    <a:p>
                      <a:r>
                        <a:rPr sz="950" b="0" i="0">
                          <a:solidFill>
                            <a:srgbClr val="1C2736"/>
                          </a:solidFill>
                          <a:latin typeface="Calibri"/>
                        </a:rPr>
                        <a:t>SigLIP — MỞ KHOÁ fine-tune</a:t>
                      </a:r>
                    </a:p>
                  </a:txBody>
                  <a:tcPr marL="50800" marR="50800" marT="12700" marB="12700" anchor="ctr">
                    <a:solidFill>
                      <a:srgbClr val="E8F0F8"/>
                    </a:solidFill>
                  </a:tcPr>
                </a:tc>
              </a:tr>
              <a:tr h="384048">
                <a:tc>
                  <a:txBody>
                    <a:bodyPr/>
                    <a:lstStyle/>
                    <a:p>
                      <a:r>
                        <a:rPr sz="950" b="1" i="0">
                          <a:solidFill>
                            <a:srgbClr val="1C2736"/>
                          </a:solidFill>
                          <a:latin typeface="Calibri"/>
                        </a:rPr>
                        <a:t>Chạy trên</a:t>
                      </a:r>
                    </a:p>
                  </a:txBody>
                  <a:tcPr marL="50800" marR="50800" marT="12700" marB="12700" anchor="ctr">
                    <a:solidFill>
                      <a:srgbClr val="FFFFFF"/>
                    </a:solidFill>
                  </a:tcPr>
                </a:tc>
                <a:tc>
                  <a:txBody>
                    <a:bodyPr/>
                    <a:lstStyle/>
                    <a:p>
                      <a:r>
                        <a:rPr sz="950" b="0" i="0">
                          <a:solidFill>
                            <a:srgbClr val="1C2736"/>
                          </a:solidFill>
                          <a:latin typeface="Calibri"/>
                        </a:rPr>
                        <a:t>16× H800</a:t>
                      </a:r>
                    </a:p>
                  </a:txBody>
                  <a:tcPr marL="50800" marR="50800" marT="12700" marB="12700" anchor="ctr">
                    <a:solidFill>
                      <a:srgbClr val="FFFFFF"/>
                    </a:solidFill>
                  </a:tcPr>
                </a:tc>
                <a:tc>
                  <a:txBody>
                    <a:bodyPr/>
                    <a:lstStyle/>
                    <a:p>
                      <a:r>
                        <a:rPr sz="950" b="0" i="0">
                          <a:solidFill>
                            <a:srgbClr val="1C2736"/>
                          </a:solidFill>
                          <a:latin typeface="Calibri"/>
                        </a:rPr>
                        <a:t>1×A100 / Colab</a:t>
                      </a:r>
                    </a:p>
                  </a:txBody>
                  <a:tcPr marL="50800" marR="50800" marT="12700" marB="12700" anchor="ctr">
                    <a:solidFill>
                      <a:srgbClr val="FFFFFF"/>
                    </a:solidFill>
                  </a:tcPr>
                </a:tc>
              </a:tr>
            </a:tbl>
          </a:graphicData>
        </a:graphic>
      </p:graphicFrame>
      <p:sp>
        <p:nvSpPr>
          <p:cNvPr id="6" name="TextBox 5"/>
          <p:cNvSpPr txBox="1"/>
          <p:nvPr/>
        </p:nvSpPr>
        <p:spPr>
          <a:xfrm>
            <a:off x="365760" y="3172968"/>
            <a:ext cx="5029200" cy="1463040"/>
          </a:xfrm>
          <a:prstGeom prst="rect">
            <a:avLst/>
          </a:prstGeom>
          <a:noFill/>
        </p:spPr>
        <p:txBody>
          <a:bodyPr wrap="square" anchor="t" lIns="25400" rIns="25400" tIns="12700" bIns="12700">
            <a:spAutoFit/>
          </a:bodyPr>
          <a:lstStyle/>
          <a:p>
            <a:pPr>
              <a:spcBef>
                <a:spcPts val="0"/>
              </a:spcBef>
              <a:spcAft>
                <a:spcPts val="600"/>
              </a:spcAft>
            </a:pPr>
            <a:r>
              <a:rPr sz="1100" b="1" i="0">
                <a:solidFill>
                  <a:srgbClr val="1A3A5C"/>
                </a:solidFill>
                <a:latin typeface="Calibri"/>
              </a:rPr>
              <a:t>▪  </a:t>
            </a:r>
            <a:r>
              <a:rPr sz="1100" b="1" i="0">
                <a:solidFill>
                  <a:srgbClr val="1C2736"/>
                </a:solidFill>
                <a:latin typeface="Calibri"/>
              </a:rPr>
              <a:t>Mở vision tower = bước tạo khác biệt</a:t>
            </a:r>
            <a:r>
              <a:rPr sz="1100" b="0" i="0">
                <a:solidFill>
                  <a:srgbClr val="1C2736"/>
                </a:solidFill>
                <a:latin typeface="Calibri"/>
              </a:rPr>
              <a:t>: đóng băng → pIoU 0.015; mở khoá → 0.27.</a:t>
            </a:r>
          </a:p>
          <a:p>
            <a:pPr lvl="1">
              <a:spcBef>
                <a:spcPts val="0"/>
              </a:spcBef>
              <a:spcAft>
                <a:spcPts val="600"/>
              </a:spcAft>
            </a:pPr>
            <a:r>
              <a:rPr sz="1100" b="0" i="0">
                <a:solidFill>
                  <a:srgbClr val="757070"/>
                </a:solidFill>
                <a:latin typeface="Calibri"/>
              </a:rPr>
              <a:t>–  </a:t>
            </a:r>
            <a:r>
              <a:rPr sz="1050" b="0" i="0">
                <a:solidFill>
                  <a:srgbClr val="757070"/>
                </a:solidFill>
                <a:latin typeface="Calibri"/>
              </a:rPr>
              <a:t>⚠️ 1 cặp cấu hình minh hoạ, </a:t>
            </a:r>
            <a:r>
              <a:rPr sz="1050" b="1" i="0">
                <a:solidFill>
                  <a:srgbClr val="757070"/>
                </a:solidFill>
                <a:latin typeface="Calibri"/>
              </a:rPr>
              <a:t>chưa lặp seed</a:t>
            </a:r>
            <a:r>
              <a:rPr sz="1050" b="0" i="0">
                <a:solidFill>
                  <a:srgbClr val="757070"/>
                </a:solidFill>
                <a:latin typeface="Calibri"/>
              </a:rPr>
              <a:t> — chỉ cho thấy HƯỚNG.</a:t>
            </a:r>
          </a:p>
          <a:p>
            <a:pPr lvl="1">
              <a:spcBef>
                <a:spcPts val="0"/>
              </a:spcBef>
              <a:spcAft>
                <a:spcPts val="600"/>
              </a:spcAft>
            </a:pPr>
            <a:r>
              <a:rPr sz="1100" b="0" i="0">
                <a:solidFill>
                  <a:srgbClr val="757070"/>
                </a:solidFill>
                <a:latin typeface="Calibri"/>
              </a:rPr>
              <a:t>–  </a:t>
            </a:r>
            <a:r>
              <a:rPr sz="1050" b="0" i="0">
                <a:solidFill>
                  <a:srgbClr val="757070"/>
                </a:solidFill>
                <a:latin typeface="Calibri"/>
              </a:rPr>
              <a:t>⚠️ KHÔNG nói “Gemma giỏi hơn MedRegA” — phải fine-tune y khoa mới cạnh tranh.</a:t>
            </a:r>
          </a:p>
        </p:txBody>
      </p:sp>
      <p:pic>
        <p:nvPicPr>
          <p:cNvPr id="7" name="Picture 6" descr="iou_frozen_vs_unfrozen.png"/>
          <p:cNvPicPr>
            <a:picLocks noChangeAspect="1"/>
          </p:cNvPicPr>
          <p:nvPr/>
        </p:nvPicPr>
        <p:blipFill>
          <a:blip r:embed="rId2"/>
          <a:stretch>
            <a:fillRect/>
          </a:stretch>
        </p:blipFill>
        <p:spPr>
          <a:xfrm>
            <a:off x="5669280" y="1389888"/>
            <a:ext cx="3200400" cy="2556136"/>
          </a:xfrm>
          <a:prstGeom prst="rect">
            <a:avLst/>
          </a:prstGeom>
        </p:spPr>
      </p:pic>
      <p:sp>
        <p:nvSpPr>
          <p:cNvPr id="8" name="TextBox 7"/>
          <p:cNvSpPr txBox="1"/>
          <p:nvPr/>
        </p:nvSpPr>
        <p:spPr>
          <a:xfrm>
            <a:off x="5669280" y="3964311"/>
            <a:ext cx="3200400" cy="320040"/>
          </a:xfrm>
          <a:prstGeom prst="rect">
            <a:avLst/>
          </a:prstGeom>
          <a:noFill/>
        </p:spPr>
        <p:txBody>
          <a:bodyPr wrap="square" anchor="t" lIns="25400" rIns="25400" tIns="12700" bIns="12700">
            <a:spAutoFit/>
          </a:bodyPr>
          <a:lstStyle/>
          <a:p>
            <a:pPr algn="ctr"/>
            <a:r>
              <a:rPr sz="750" b="0" i="1">
                <a:solidFill>
                  <a:srgbClr val="6B7F95"/>
                </a:solidFill>
                <a:latin typeface="Calibri"/>
              </a:rPr>
              <a:t>pIoU: đóng băng vs mở khoá vision</a:t>
            </a:r>
          </a:p>
        </p:txBody>
      </p:sp>
      <p:sp>
        <p:nvSpPr>
          <p:cNvPr id="9" name="Rectangle 8"/>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11" name="TextBox 10"/>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Cải tiến (2): dữ liệu — đa lát, ca âm, multi-box</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B — Cải tiến</a:t>
            </a:r>
          </a:p>
        </p:txBody>
      </p:sp>
      <p:sp>
        <p:nvSpPr>
          <p:cNvPr id="5" name="TextBox 4"/>
          <p:cNvSpPr txBox="1"/>
          <p:nvPr/>
        </p:nvSpPr>
        <p:spPr>
          <a:xfrm>
            <a:off x="365760" y="1298448"/>
            <a:ext cx="4754880" cy="3108960"/>
          </a:xfrm>
          <a:prstGeom prst="rect">
            <a:avLst/>
          </a:prstGeom>
          <a:noFill/>
        </p:spPr>
        <p:txBody>
          <a:bodyPr wrap="square" anchor="t" lIns="25400" rIns="25400" tIns="12700" bIns="12700">
            <a:spAutoFit/>
          </a:bodyPr>
          <a:lstStyle/>
          <a:p>
            <a:pPr>
              <a:spcBef>
                <a:spcPts val="0"/>
              </a:spcBef>
              <a:spcAft>
                <a:spcPts val="600"/>
              </a:spcAft>
            </a:pPr>
            <a:r>
              <a:rPr sz="1150" b="1" i="0">
                <a:solidFill>
                  <a:srgbClr val="1A3A5C"/>
                </a:solidFill>
                <a:latin typeface="Calibri"/>
              </a:rPr>
              <a:t>▪  </a:t>
            </a:r>
            <a:r>
              <a:rPr sz="1150" b="1" i="0">
                <a:solidFill>
                  <a:srgbClr val="1C2736"/>
                </a:solidFill>
                <a:latin typeface="Calibri"/>
              </a:rPr>
              <a:t>Đa lát</a:t>
            </a:r>
            <a:r>
              <a:rPr sz="1150" b="0" i="0">
                <a:solidFill>
                  <a:srgbClr val="1C2736"/>
                </a:solidFill>
                <a:latin typeface="Calibri"/>
              </a:rPr>
              <a:t> (khác paper 1 lát): mỗi bệnh nhân 2 lát u lớn + 3 ngẫu nhiên.</a:t>
            </a:r>
          </a:p>
          <a:p>
            <a:pPr>
              <a:spcBef>
                <a:spcPts val="0"/>
              </a:spcBef>
              <a:spcAft>
                <a:spcPts val="600"/>
              </a:spcAft>
            </a:pPr>
            <a:r>
              <a:rPr sz="1150" b="1" i="0">
                <a:solidFill>
                  <a:srgbClr val="1A3A5C"/>
                </a:solidFill>
                <a:latin typeface="Calibri"/>
              </a:rPr>
              <a:t>▪  </a:t>
            </a:r>
            <a:r>
              <a:rPr sz="1150" b="1" i="0">
                <a:solidFill>
                  <a:srgbClr val="1C2736"/>
                </a:solidFill>
                <a:latin typeface="Calibri"/>
              </a:rPr>
              <a:t>Ca ÂM (không u):</a:t>
            </a:r>
            <a:r>
              <a:rPr sz="1150" b="0" i="0">
                <a:solidFill>
                  <a:srgbClr val="1C2736"/>
                </a:solidFill>
                <a:latin typeface="Calibri"/>
              </a:rPr>
              <a:t> dạy model “khi nào KHÔNG vẽ box” — paper thiếu.</a:t>
            </a:r>
          </a:p>
          <a:p>
            <a:pPr>
              <a:spcBef>
                <a:spcPts val="0"/>
              </a:spcBef>
              <a:spcAft>
                <a:spcPts val="600"/>
              </a:spcAft>
            </a:pPr>
            <a:r>
              <a:rPr sz="1150" b="1" i="0">
                <a:solidFill>
                  <a:srgbClr val="1A3A5C"/>
                </a:solidFill>
                <a:latin typeface="Calibri"/>
              </a:rPr>
              <a:t>▪  </a:t>
            </a:r>
            <a:r>
              <a:rPr sz="1150" b="1" i="0">
                <a:solidFill>
                  <a:srgbClr val="1C2736"/>
                </a:solidFill>
                <a:latin typeface="Calibri"/>
              </a:rPr>
              <a:t>Multi-box</a:t>
            </a:r>
            <a:r>
              <a:rPr sz="1150" b="0" i="0">
                <a:solidFill>
                  <a:srgbClr val="1C2736"/>
                </a:solidFill>
                <a:latin typeface="Calibri"/>
              </a:rPr>
              <a:t> (connected-components: tách cụm pixel u dính nhau): 1 box/ổ, lọc &lt;30px. </a:t>
            </a:r>
            <a:r>
              <a:rPr sz="1150" b="1" i="0">
                <a:solidFill>
                  <a:srgbClr val="1C2736"/>
                </a:solidFill>
                <a:latin typeface="Calibri"/>
              </a:rPr>
              <a:t>35.5% lát dương có ≥2 ổ</a:t>
            </a:r>
            <a:r>
              <a:rPr sz="1150" b="0" i="0">
                <a:solidFill>
                  <a:srgbClr val="1C2736"/>
                </a:solidFill>
                <a:latin typeface="Calibri"/>
              </a:rPr>
              <a:t>.</a:t>
            </a:r>
          </a:p>
          <a:p>
            <a:pPr>
              <a:spcBef>
                <a:spcPts val="0"/>
              </a:spcBef>
              <a:spcAft>
                <a:spcPts val="600"/>
              </a:spcAft>
            </a:pPr>
            <a:r>
              <a:rPr sz="1150" b="1" i="0">
                <a:solidFill>
                  <a:srgbClr val="1A3A5C"/>
                </a:solidFill>
                <a:latin typeface="Calibri"/>
              </a:rPr>
              <a:t>▪  </a:t>
            </a:r>
            <a:r>
              <a:rPr sz="1150" b="1" i="0">
                <a:solidFill>
                  <a:srgbClr val="1C2736"/>
                </a:solidFill>
                <a:latin typeface="Calibri"/>
              </a:rPr>
              <a:t>Augment hợp CT gan</a:t>
            </a:r>
            <a:r>
              <a:rPr sz="1150" b="0" i="0">
                <a:solidFill>
                  <a:srgbClr val="1C2736"/>
                </a:solidFill>
                <a:latin typeface="Calibri"/>
              </a:rPr>
              <a:t>: dịch/xoay nhẹ ±12°/scale — KHÔNG lật (gan có hướng giải phẫu).</a:t>
            </a:r>
          </a:p>
          <a:p>
            <a:pPr>
              <a:spcBef>
                <a:spcPts val="0"/>
              </a:spcBef>
              <a:spcAft>
                <a:spcPts val="600"/>
              </a:spcAft>
            </a:pPr>
            <a:r>
              <a:rPr sz="1150" b="1" i="0">
                <a:solidFill>
                  <a:srgbClr val="1A3A5C"/>
                </a:solidFill>
                <a:latin typeface="Calibri"/>
              </a:rPr>
              <a:t>▪  </a:t>
            </a:r>
            <a:r>
              <a:rPr sz="1150" b="1" i="0">
                <a:solidFill>
                  <a:srgbClr val="1C2736"/>
                </a:solidFill>
                <a:latin typeface="Calibri"/>
              </a:rPr>
              <a:t>Data v3:</a:t>
            </a:r>
            <a:r>
              <a:rPr sz="1150" b="0" i="0">
                <a:solidFill>
                  <a:srgbClr val="1C2736"/>
                </a:solidFill>
                <a:latin typeface="Calibri"/>
              </a:rPr>
              <a:t> 1211 mẫu (558 dương/653 âm), </a:t>
            </a:r>
            <a:r>
              <a:rPr sz="1150" b="1" i="0">
                <a:solidFill>
                  <a:srgbClr val="1C2736"/>
                </a:solidFill>
                <a:latin typeface="Calibri"/>
              </a:rPr>
              <a:t>split theo bệnh nhân</a:t>
            </a:r>
            <a:r>
              <a:rPr sz="1150" b="0" i="0">
                <a:solidFill>
                  <a:srgbClr val="1C2736"/>
                </a:solidFill>
                <a:latin typeface="Calibri"/>
              </a:rPr>
              <a:t>.</a:t>
            </a:r>
          </a:p>
        </p:txBody>
      </p:sp>
      <p:pic>
        <p:nvPicPr>
          <p:cNvPr id="6" name="Picture 5" descr="liver_002_pos_z457.png"/>
          <p:cNvPicPr>
            <a:picLocks noChangeAspect="1"/>
          </p:cNvPicPr>
          <p:nvPr/>
        </p:nvPicPr>
        <p:blipFill>
          <a:blip r:embed="rId2"/>
          <a:stretch>
            <a:fillRect/>
          </a:stretch>
        </p:blipFill>
        <p:spPr>
          <a:xfrm>
            <a:off x="5257800" y="2148840"/>
            <a:ext cx="1828800" cy="1828800"/>
          </a:xfrm>
          <a:prstGeom prst="rect">
            <a:avLst/>
          </a:prstGeom>
        </p:spPr>
      </p:pic>
      <p:sp>
        <p:nvSpPr>
          <p:cNvPr id="7" name="TextBox 6"/>
          <p:cNvSpPr txBox="1"/>
          <p:nvPr/>
        </p:nvSpPr>
        <p:spPr>
          <a:xfrm>
            <a:off x="5257800" y="3995927"/>
            <a:ext cx="1828800" cy="320040"/>
          </a:xfrm>
          <a:prstGeom prst="rect">
            <a:avLst/>
          </a:prstGeom>
          <a:noFill/>
        </p:spPr>
        <p:txBody>
          <a:bodyPr wrap="square" anchor="t" lIns="25400" rIns="25400" tIns="12700" bIns="12700">
            <a:spAutoFit/>
          </a:bodyPr>
          <a:lstStyle/>
          <a:p>
            <a:pPr algn="ctr"/>
            <a:r>
              <a:rPr sz="750" b="0" i="1">
                <a:solidFill>
                  <a:srgbClr val="6B7F95"/>
                </a:solidFill>
                <a:latin typeface="Calibri"/>
              </a:rPr>
              <a:t>CÓ u</a:t>
            </a:r>
          </a:p>
        </p:txBody>
      </p:sp>
      <p:pic>
        <p:nvPicPr>
          <p:cNvPr id="8" name="Picture 7" descr="liver_002_neg_z389.png"/>
          <p:cNvPicPr>
            <a:picLocks noChangeAspect="1"/>
          </p:cNvPicPr>
          <p:nvPr/>
        </p:nvPicPr>
        <p:blipFill>
          <a:blip r:embed="rId3"/>
          <a:stretch>
            <a:fillRect/>
          </a:stretch>
        </p:blipFill>
        <p:spPr>
          <a:xfrm>
            <a:off x="7223760" y="2148840"/>
            <a:ext cx="1828800" cy="1828800"/>
          </a:xfrm>
          <a:prstGeom prst="rect">
            <a:avLst/>
          </a:prstGeom>
        </p:spPr>
      </p:pic>
      <p:sp>
        <p:nvSpPr>
          <p:cNvPr id="9" name="TextBox 8"/>
          <p:cNvSpPr txBox="1"/>
          <p:nvPr/>
        </p:nvSpPr>
        <p:spPr>
          <a:xfrm>
            <a:off x="7223760" y="3995927"/>
            <a:ext cx="1828800" cy="320040"/>
          </a:xfrm>
          <a:prstGeom prst="rect">
            <a:avLst/>
          </a:prstGeom>
          <a:noFill/>
        </p:spPr>
        <p:txBody>
          <a:bodyPr wrap="square" anchor="t" lIns="25400" rIns="25400" tIns="12700" bIns="12700">
            <a:spAutoFit/>
          </a:bodyPr>
          <a:lstStyle/>
          <a:p>
            <a:pPr algn="ctr"/>
            <a:r>
              <a:rPr sz="750" b="0" i="1">
                <a:solidFill>
                  <a:srgbClr val="6B7F95"/>
                </a:solidFill>
                <a:latin typeface="Calibri"/>
              </a:rPr>
              <a:t>KHÔNG u</a:t>
            </a:r>
          </a:p>
        </p:txBody>
      </p:sp>
      <p:sp>
        <p:nvSpPr>
          <p:cNvPr id="10" name="Rectangle 9"/>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12" name="TextBox 11"/>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Cải tiến (3): huấn luyện + một thí nghiệm thất bại</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B — Cải tiến</a:t>
            </a:r>
          </a:p>
        </p:txBody>
      </p:sp>
      <p:sp>
        <p:nvSpPr>
          <p:cNvPr id="5" name="TextBox 4"/>
          <p:cNvSpPr txBox="1"/>
          <p:nvPr/>
        </p:nvSpPr>
        <p:spPr>
          <a:xfrm>
            <a:off x="365760" y="1298448"/>
            <a:ext cx="5120640" cy="3291840"/>
          </a:xfrm>
          <a:prstGeom prst="rect">
            <a:avLst/>
          </a:prstGeom>
          <a:noFill/>
        </p:spPr>
        <p:txBody>
          <a:bodyPr wrap="square" anchor="t" lIns="25400" rIns="25400" tIns="12700" bIns="12700">
            <a:spAutoFit/>
          </a:bodyPr>
          <a:lstStyle/>
          <a:p>
            <a:pPr>
              <a:spcBef>
                <a:spcPts val="0"/>
              </a:spcBef>
              <a:spcAft>
                <a:spcPts val="600"/>
              </a:spcAft>
            </a:pPr>
            <a:r>
              <a:rPr sz="1200" b="1" i="0">
                <a:solidFill>
                  <a:srgbClr val="1A3A5C"/>
                </a:solidFill>
                <a:latin typeface="Calibri"/>
              </a:rPr>
              <a:t>▪  </a:t>
            </a:r>
            <a:r>
              <a:rPr sz="1200" b="1" i="0">
                <a:solidFill>
                  <a:srgbClr val="1C2736"/>
                </a:solidFill>
                <a:latin typeface="Calibri"/>
              </a:rPr>
              <a:t>LoRA trên LLM</a:t>
            </a:r>
            <a:r>
              <a:rPr sz="1200" b="0" i="0">
                <a:solidFill>
                  <a:srgbClr val="1C2736"/>
                </a:solidFill>
                <a:latin typeface="Calibri"/>
              </a:rPr>
              <a:t> (chèn ma trận nhỏ, giữ nguyên trọng số gốc) + </a:t>
            </a:r>
            <a:r>
              <a:rPr sz="1200" b="1" i="0">
                <a:solidFill>
                  <a:srgbClr val="1C2736"/>
                </a:solidFill>
                <a:latin typeface="Calibri"/>
              </a:rPr>
              <a:t>full-finetune Vision</a:t>
            </a:r>
            <a:r>
              <a:rPr sz="1200" b="0" i="0">
                <a:solidFill>
                  <a:srgbClr val="1C2736"/>
                </a:solidFill>
                <a:latin typeface="Calibri"/>
              </a:rPr>
              <a:t> (fp32, LR 1e-5).</a:t>
            </a:r>
          </a:p>
          <a:p>
            <a:pPr>
              <a:spcBef>
                <a:spcPts val="0"/>
              </a:spcBef>
              <a:spcAft>
                <a:spcPts val="600"/>
              </a:spcAft>
            </a:pPr>
            <a:r>
              <a:rPr sz="1200" b="1" i="0">
                <a:solidFill>
                  <a:srgbClr val="1A3A5C"/>
                </a:solidFill>
                <a:latin typeface="Calibri"/>
              </a:rPr>
              <a:t>▪  </a:t>
            </a:r>
            <a:r>
              <a:rPr sz="1200" b="1" i="0">
                <a:solidFill>
                  <a:srgbClr val="1C2736"/>
                </a:solidFill>
                <a:latin typeface="Calibri"/>
              </a:rPr>
              <a:t>Loss:</a:t>
            </a:r>
            <a:r>
              <a:rPr sz="1200" b="0" i="0">
                <a:solidFill>
                  <a:srgbClr val="1C2736"/>
                </a:solidFill>
                <a:latin typeface="Calibri"/>
              </a:rPr>
              <a:t> cross-entropy tiêu chuẩn.</a:t>
            </a:r>
          </a:p>
          <a:p>
            <a:pPr>
              <a:spcBef>
                <a:spcPts val="0"/>
              </a:spcBef>
              <a:spcAft>
                <a:spcPts val="600"/>
              </a:spcAft>
            </a:pPr>
            <a:r>
              <a:rPr sz="1200" b="1" i="0">
                <a:solidFill>
                  <a:srgbClr val="1A3A5C"/>
                </a:solidFill>
                <a:latin typeface="Calibri"/>
              </a:rPr>
              <a:t>▪  </a:t>
            </a:r>
            <a:r>
              <a:rPr sz="1200" b="1" i="0">
                <a:solidFill>
                  <a:srgbClr val="1C2736"/>
                </a:solidFill>
                <a:latin typeface="Calibri"/>
              </a:rPr>
              <a:t>Bài học thất bại (v4 — BCE-head):</a:t>
            </a:r>
            <a:r>
              <a:rPr sz="1200" b="0" i="0">
                <a:solidFill>
                  <a:srgbClr val="1C2736"/>
                </a:solidFill>
                <a:latin typeface="Calibri"/>
              </a:rPr>
              <a:t> thêm nhánh BCE cho quyết định vẽ/không vẽ → localization </a:t>
            </a:r>
            <a:r>
              <a:rPr sz="1200" b="1" i="0">
                <a:solidFill>
                  <a:srgbClr val="1C2736"/>
                </a:solidFill>
                <a:latin typeface="Calibri"/>
              </a:rPr>
              <a:t>SẬP</a:t>
            </a:r>
            <a:r>
              <a:rPr sz="1200" b="0" i="0">
                <a:solidFill>
                  <a:srgbClr val="1C2736"/>
                </a:solidFill>
                <a:latin typeface="Calibri"/>
              </a:rPr>
              <a:t> (IoU 0.32→0.071; recall@0.25 54%→10%).</a:t>
            </a:r>
          </a:p>
          <a:p>
            <a:pPr lvl="1">
              <a:spcBef>
                <a:spcPts val="0"/>
              </a:spcBef>
              <a:spcAft>
                <a:spcPts val="600"/>
              </a:spcAft>
            </a:pPr>
            <a:r>
              <a:rPr sz="1200" b="0" i="0">
                <a:solidFill>
                  <a:srgbClr val="757070"/>
                </a:solidFill>
                <a:latin typeface="Calibri"/>
              </a:rPr>
              <a:t>–  </a:t>
            </a:r>
            <a:r>
              <a:rPr sz="1150" b="0" i="0">
                <a:solidFill>
                  <a:srgbClr val="757070"/>
                </a:solidFill>
                <a:latin typeface="Calibri"/>
              </a:rPr>
              <a:t>Hai lỗi chồng nhau: (1) </a:t>
            </a:r>
            <a:r>
              <a:rPr sz="1150" b="1" i="0">
                <a:solidFill>
                  <a:srgbClr val="757070"/>
                </a:solidFill>
                <a:latin typeface="Calibri"/>
              </a:rPr>
              <a:t>λ_BCE quá lớn lấn át loss toạ độ</a:t>
            </a:r>
            <a:r>
              <a:rPr sz="1150" b="0" i="0">
                <a:solidFill>
                  <a:srgbClr val="757070"/>
                </a:solidFill>
                <a:latin typeface="Calibri"/>
              </a:rPr>
              <a:t>; (2) </a:t>
            </a:r>
            <a:r>
              <a:rPr sz="1150" b="1" i="0">
                <a:solidFill>
                  <a:srgbClr val="757070"/>
                </a:solidFill>
                <a:latin typeface="Calibri"/>
              </a:rPr>
              <a:t>bug nạp lại checkpoint</a:t>
            </a:r>
            <a:r>
              <a:rPr sz="1150" b="0" i="0">
                <a:solidFill>
                  <a:srgbClr val="757070"/>
                </a:solidFill>
                <a:latin typeface="Calibri"/>
              </a:rPr>
              <a:t> (lệch key LoRA → trọng số rơi vào missing_keys im lặng).</a:t>
            </a:r>
          </a:p>
          <a:p>
            <a:pPr lvl="1">
              <a:spcBef>
                <a:spcPts val="0"/>
              </a:spcBef>
              <a:spcAft>
                <a:spcPts val="600"/>
              </a:spcAft>
            </a:pPr>
            <a:r>
              <a:rPr sz="1200" b="0" i="0">
                <a:solidFill>
                  <a:srgbClr val="757070"/>
                </a:solidFill>
                <a:latin typeface="Calibri"/>
              </a:rPr>
              <a:t>–  </a:t>
            </a:r>
            <a:r>
              <a:rPr sz="1150" b="0" i="0">
                <a:solidFill>
                  <a:srgbClr val="757070"/>
                </a:solidFill>
                <a:latin typeface="Calibri"/>
              </a:rPr>
              <a:t>→ Bài học: cân λ cẩn thận + </a:t>
            </a:r>
            <a:r>
              <a:rPr sz="1150" b="1" i="0">
                <a:solidFill>
                  <a:srgbClr val="757070"/>
                </a:solidFill>
                <a:latin typeface="Calibri"/>
              </a:rPr>
              <a:t>hard-fail khi thiếu key</a:t>
            </a:r>
            <a:r>
              <a:rPr sz="1150" b="0" i="0">
                <a:solidFill>
                  <a:srgbClr val="757070"/>
                </a:solidFill>
                <a:latin typeface="Calibri"/>
              </a:rPr>
              <a:t>.</a:t>
            </a:r>
          </a:p>
        </p:txBody>
      </p:sp>
      <p:pic>
        <p:nvPicPr>
          <p:cNvPr id="6" name="Picture 5" descr="bce_collapse.png"/>
          <p:cNvPicPr>
            <a:picLocks noChangeAspect="1"/>
          </p:cNvPicPr>
          <p:nvPr/>
        </p:nvPicPr>
        <p:blipFill>
          <a:blip r:embed="rId2"/>
          <a:stretch>
            <a:fillRect/>
          </a:stretch>
        </p:blipFill>
        <p:spPr>
          <a:xfrm>
            <a:off x="5623560" y="1618488"/>
            <a:ext cx="3200400" cy="2413339"/>
          </a:xfrm>
          <a:prstGeom prst="rect">
            <a:avLst/>
          </a:prstGeom>
        </p:spPr>
      </p:pic>
      <p:sp>
        <p:nvSpPr>
          <p:cNvPr id="7" name="TextBox 6"/>
          <p:cNvSpPr txBox="1"/>
          <p:nvPr/>
        </p:nvSpPr>
        <p:spPr>
          <a:xfrm>
            <a:off x="5623560" y="4050114"/>
            <a:ext cx="3200400" cy="320040"/>
          </a:xfrm>
          <a:prstGeom prst="rect">
            <a:avLst/>
          </a:prstGeom>
          <a:noFill/>
        </p:spPr>
        <p:txBody>
          <a:bodyPr wrap="square" anchor="t" lIns="25400" rIns="25400" tIns="12700" bIns="12700">
            <a:spAutoFit/>
          </a:bodyPr>
          <a:lstStyle/>
          <a:p>
            <a:pPr algn="ctr"/>
            <a:r>
              <a:rPr sz="750" b="0" i="1">
                <a:solidFill>
                  <a:srgbClr val="6B7F95"/>
                </a:solidFill>
                <a:latin typeface="Calibri"/>
              </a:rPr>
              <a:t>v4 (BCE-head) SẬP so với v3</a:t>
            </a:r>
          </a:p>
        </p:txBody>
      </p:sp>
      <p:sp>
        <p:nvSpPr>
          <p:cNvPr id="8" name="Rectangle 7"/>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10" name="TextBox 9"/>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Cải tiến (4): ĐÁNH GIÁ chặt hơn — đóng góp mạnh nhất</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B — Cải tiến</a:t>
            </a:r>
          </a:p>
        </p:txBody>
      </p:sp>
      <p:sp>
        <p:nvSpPr>
          <p:cNvPr id="5" name="TextBox 4"/>
          <p:cNvSpPr txBox="1"/>
          <p:nvPr/>
        </p:nvSpPr>
        <p:spPr>
          <a:xfrm>
            <a:off x="365760" y="1298448"/>
            <a:ext cx="5029200" cy="2926080"/>
          </a:xfrm>
          <a:prstGeom prst="rect">
            <a:avLst/>
          </a:prstGeom>
          <a:noFill/>
        </p:spPr>
        <p:txBody>
          <a:bodyPr wrap="square" anchor="t" lIns="25400" rIns="25400" tIns="12700" bIns="12700">
            <a:spAutoFit/>
          </a:bodyPr>
          <a:lstStyle/>
          <a:p>
            <a:pPr>
              <a:spcBef>
                <a:spcPts val="0"/>
              </a:spcBef>
              <a:spcAft>
                <a:spcPts val="600"/>
              </a:spcAft>
            </a:pPr>
            <a:r>
              <a:rPr sz="1150" b="1" i="0">
                <a:solidFill>
                  <a:srgbClr val="1A3A5C"/>
                </a:solidFill>
                <a:latin typeface="Calibri"/>
              </a:rPr>
              <a:t>▪  </a:t>
            </a:r>
            <a:r>
              <a:rPr sz="1150" b="1" i="0">
                <a:solidFill>
                  <a:srgbClr val="1C2736"/>
                </a:solidFill>
                <a:latin typeface="Calibri"/>
              </a:rPr>
              <a:t>Per-patient + bootstrap CI</a:t>
            </a:r>
            <a:r>
              <a:rPr sz="1150" b="0" i="0">
                <a:solidFill>
                  <a:srgbClr val="1C2736"/>
                </a:solidFill>
                <a:latin typeface="Calibri"/>
              </a:rPr>
              <a:t> thay per-image → sửa pseudoreplication; n thật ~25 dương → </a:t>
            </a:r>
            <a:r>
              <a:rPr sz="1150" b="1" i="0">
                <a:solidFill>
                  <a:srgbClr val="1C2736"/>
                </a:solidFill>
                <a:latin typeface="Calibri"/>
              </a:rPr>
              <a:t>CI rộng, nói thẳng</a:t>
            </a:r>
            <a:r>
              <a:rPr sz="1150" b="0" i="0">
                <a:solidFill>
                  <a:srgbClr val="1C2736"/>
                </a:solidFill>
                <a:latin typeface="Calibri"/>
              </a:rPr>
              <a:t>.</a:t>
            </a:r>
          </a:p>
          <a:p>
            <a:pPr>
              <a:spcBef>
                <a:spcPts val="0"/>
              </a:spcBef>
              <a:spcAft>
                <a:spcPts val="600"/>
              </a:spcAft>
            </a:pPr>
            <a:r>
              <a:rPr sz="1150" b="1" i="0">
                <a:solidFill>
                  <a:srgbClr val="1A3A5C"/>
                </a:solidFill>
                <a:latin typeface="Calibri"/>
              </a:rPr>
              <a:t>▪  </a:t>
            </a:r>
            <a:r>
              <a:rPr sz="1150" b="1" i="0">
                <a:solidFill>
                  <a:srgbClr val="1C2736"/>
                </a:solidFill>
                <a:latin typeface="Calibri"/>
              </a:rPr>
              <a:t>Tách PHÁT HIỆN khỏi ĐỊNH VỊ:</a:t>
            </a:r>
            <a:r>
              <a:rPr sz="1150" b="0" i="0">
                <a:solidFill>
                  <a:srgbClr val="1C2736"/>
                </a:solidFill>
                <a:latin typeface="Calibri"/>
              </a:rPr>
              <a:t> detect = box chồng GT; FP = ca âm bị vẽ box; localization = IoU riêng.</a:t>
            </a:r>
          </a:p>
          <a:p>
            <a:pPr>
              <a:spcBef>
                <a:spcPts val="0"/>
              </a:spcBef>
              <a:spcAft>
                <a:spcPts val="600"/>
              </a:spcAft>
            </a:pPr>
            <a:r>
              <a:rPr sz="1150" b="1" i="0">
                <a:solidFill>
                  <a:srgbClr val="1A3A5C"/>
                </a:solidFill>
                <a:latin typeface="Calibri"/>
              </a:rPr>
              <a:t>▪  </a:t>
            </a:r>
            <a:r>
              <a:rPr sz="1150" b="1" i="0">
                <a:solidFill>
                  <a:srgbClr val="1C2736"/>
                </a:solidFill>
                <a:latin typeface="Calibri"/>
              </a:rPr>
              <a:t>Selective prediction:</a:t>
            </a:r>
            <a:r>
              <a:rPr sz="1150" b="0" i="0">
                <a:solidFill>
                  <a:srgbClr val="1C2736"/>
                </a:solidFill>
                <a:latin typeface="Calibri"/>
              </a:rPr>
              <a:t> 2 tín hiệu miễn phí — </a:t>
            </a:r>
            <a:r>
              <a:rPr sz="1150" b="1" i="0">
                <a:solidFill>
                  <a:srgbClr val="1C2736"/>
                </a:solidFill>
                <a:latin typeface="Calibri"/>
              </a:rPr>
              <a:t>logprob toạ độ</a:t>
            </a:r>
            <a:r>
              <a:rPr sz="1150" b="0" i="0">
                <a:solidFill>
                  <a:srgbClr val="1C2736"/>
                </a:solidFill>
                <a:latin typeface="Calibri"/>
              </a:rPr>
              <a:t> + </a:t>
            </a:r>
            <a:r>
              <a:rPr sz="1150" b="1" i="0">
                <a:solidFill>
                  <a:srgbClr val="1C2736"/>
                </a:solidFill>
                <a:latin typeface="Calibri"/>
              </a:rPr>
              <a:t>nhất quán không gian</a:t>
            </a:r>
            <a:r>
              <a:rPr sz="1150" b="0" i="0">
                <a:solidFill>
                  <a:srgbClr val="1C2736"/>
                </a:solidFill>
                <a:latin typeface="Calibri"/>
              </a:rPr>
              <a:t> → risk–coverage + conformal → </a:t>
            </a:r>
            <a:r>
              <a:rPr sz="1150" b="1" i="0">
                <a:solidFill>
                  <a:srgbClr val="1C2736"/>
                </a:solidFill>
                <a:latin typeface="Calibri"/>
              </a:rPr>
              <a:t>triage</a:t>
            </a:r>
            <a:r>
              <a:rPr sz="1150" b="0" i="0">
                <a:solidFill>
                  <a:srgbClr val="1C2736"/>
                </a:solidFill>
                <a:latin typeface="Calibri"/>
              </a:rPr>
              <a:t> (gắn cờ cho bác sĩ).</a:t>
            </a:r>
          </a:p>
        </p:txBody>
      </p:sp>
      <p:sp>
        <p:nvSpPr>
          <p:cNvPr id="6" name="Rectangle 5"/>
          <p:cNvSpPr/>
          <p:nvPr/>
        </p:nvSpPr>
        <p:spPr>
          <a:xfrm>
            <a:off x="365760" y="4087368"/>
            <a:ext cx="5029200" cy="640080"/>
          </a:xfrm>
          <a:prstGeom prst="rect">
            <a:avLst/>
          </a:prstGeom>
          <a:solidFill>
            <a:srgbClr val="FB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4151376"/>
            <a:ext cx="4809744" cy="512063"/>
          </a:xfrm>
          <a:prstGeom prst="rect">
            <a:avLst/>
          </a:prstGeom>
          <a:noFill/>
        </p:spPr>
        <p:txBody>
          <a:bodyPr wrap="square" anchor="t" lIns="25400" rIns="25400" tIns="12700" bIns="12700">
            <a:spAutoFit/>
          </a:bodyPr>
          <a:lstStyle/>
          <a:p>
            <a:r>
              <a:rPr sz="1000" b="1" i="0">
                <a:solidFill>
                  <a:srgbClr val="A04646"/>
                </a:solidFill>
                <a:latin typeface="Calibri"/>
              </a:rPr>
              <a:t>⚠ Caveat conformal</a:t>
            </a:r>
          </a:p>
          <a:p>
            <a:pPr>
              <a:spcBef>
                <a:spcPts val="100"/>
              </a:spcBef>
            </a:pPr>
            <a:r>
              <a:rPr sz="950" b="0" i="0">
                <a:solidFill>
                  <a:srgbClr val="1C2736"/>
                </a:solidFill>
                <a:latin typeface="Calibri"/>
              </a:rPr>
              <a:t>PoC — với n nhỏ (~25) bảo đảm thống kê còn lỏng, cần calibration set lớn hơn.</a:t>
            </a:r>
          </a:p>
        </p:txBody>
      </p:sp>
      <p:pic>
        <p:nvPicPr>
          <p:cNvPr id="8" name="Picture 7" descr="risk_coverage.png"/>
          <p:cNvPicPr>
            <a:picLocks noChangeAspect="1"/>
          </p:cNvPicPr>
          <p:nvPr/>
        </p:nvPicPr>
        <p:blipFill>
          <a:blip r:embed="rId2"/>
          <a:stretch>
            <a:fillRect/>
          </a:stretch>
        </p:blipFill>
        <p:spPr>
          <a:xfrm>
            <a:off x="5623560" y="1435607"/>
            <a:ext cx="3200400" cy="2105526"/>
          </a:xfrm>
          <a:prstGeom prst="rect">
            <a:avLst/>
          </a:prstGeom>
        </p:spPr>
      </p:pic>
      <p:sp>
        <p:nvSpPr>
          <p:cNvPr id="9" name="TextBox 8"/>
          <p:cNvSpPr txBox="1"/>
          <p:nvPr/>
        </p:nvSpPr>
        <p:spPr>
          <a:xfrm>
            <a:off x="5623560" y="3559421"/>
            <a:ext cx="3200400" cy="320040"/>
          </a:xfrm>
          <a:prstGeom prst="rect">
            <a:avLst/>
          </a:prstGeom>
          <a:noFill/>
        </p:spPr>
        <p:txBody>
          <a:bodyPr wrap="square" anchor="t" lIns="25400" rIns="25400" tIns="12700" bIns="12700">
            <a:spAutoFit/>
          </a:bodyPr>
          <a:lstStyle/>
          <a:p>
            <a:pPr algn="ctr"/>
            <a:r>
              <a:rPr sz="750" b="0" i="1">
                <a:solidFill>
                  <a:srgbClr val="6B7F95"/>
                </a:solidFill>
                <a:latin typeface="Calibri"/>
              </a:rPr>
              <a:t>risk–coverage: bỏ ca kém tin → IoU tăng</a:t>
            </a:r>
          </a:p>
        </p:txBody>
      </p:sp>
      <p:sp>
        <p:nvSpPr>
          <p:cNvPr id="10" name="Rectangle 9"/>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12" name="TextBox 11"/>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Kết quả: Phát hiện (có/không u) — TỐT</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C — Kết quả (model v3, n=25 dương / 2 âm)</a:t>
            </a:r>
          </a:p>
        </p:txBody>
      </p:sp>
      <p:graphicFrame>
        <p:nvGraphicFramePr>
          <p:cNvPr id="5" name="Table 4"/>
          <p:cNvGraphicFramePr>
            <a:graphicFrameLocks noGrp="1"/>
          </p:cNvGraphicFramePr>
          <p:nvPr/>
        </p:nvGraphicFramePr>
        <p:xfrm>
          <a:off x="365760" y="1344168"/>
          <a:ext cx="5029200" cy="1828800"/>
        </p:xfrm>
        <a:graphic>
          <a:graphicData uri="http://schemas.openxmlformats.org/drawingml/2006/table">
            <a:tbl>
              <a:tblPr>
                <a:tableStyleId>{5C22544A-7EE6-4342-B048-85BDC9FD1C3A}</a:tableStyleId>
              </a:tblPr>
              <a:tblGrid>
                <a:gridCol w="2468880"/>
                <a:gridCol w="1188720"/>
                <a:gridCol w="1371600"/>
              </a:tblGrid>
              <a:tr h="365760">
                <a:tc>
                  <a:txBody>
                    <a:bodyPr/>
                    <a:lstStyle/>
                    <a:p>
                      <a:r>
                        <a:rPr sz="950" b="1" i="0">
                          <a:solidFill>
                            <a:srgbClr val="FFFFFF"/>
                          </a:solidFill>
                          <a:latin typeface="Calibri"/>
                        </a:rPr>
                        <a:t>Chỉ số</a:t>
                      </a:r>
                    </a:p>
                  </a:txBody>
                  <a:tcPr marL="50800" marR="50800" marT="25400" marB="25400" anchor="ctr">
                    <a:solidFill>
                      <a:srgbClr val="1A3A5C"/>
                    </a:solidFill>
                  </a:tcPr>
                </a:tc>
                <a:tc>
                  <a:txBody>
                    <a:bodyPr/>
                    <a:lstStyle/>
                    <a:p>
                      <a:r>
                        <a:rPr sz="950" b="1" i="0">
                          <a:solidFill>
                            <a:srgbClr val="FFFFFF"/>
                          </a:solidFill>
                          <a:latin typeface="Calibri"/>
                        </a:rPr>
                        <a:t>Zero-shot</a:t>
                      </a:r>
                    </a:p>
                  </a:txBody>
                  <a:tcPr marL="50800" marR="50800" marT="25400" marB="25400" anchor="ctr">
                    <a:solidFill>
                      <a:srgbClr val="1A3A5C"/>
                    </a:solidFill>
                  </a:tcPr>
                </a:tc>
                <a:tc>
                  <a:txBody>
                    <a:bodyPr/>
                    <a:lstStyle/>
                    <a:p>
                      <a:r>
                        <a:rPr sz="950" b="1" i="0">
                          <a:solidFill>
                            <a:srgbClr val="FFFFFF"/>
                          </a:solidFill>
                          <a:latin typeface="Calibri"/>
                        </a:rPr>
                        <a:t>Fine-tune</a:t>
                      </a:r>
                    </a:p>
                  </a:txBody>
                  <a:tcPr marL="50800" marR="50800" marT="25400" marB="25400" anchor="ctr">
                    <a:solidFill>
                      <a:srgbClr val="1A3A5C"/>
                    </a:solidFill>
                  </a:tcPr>
                </a:tc>
              </a:tr>
              <a:tr h="365760">
                <a:tc>
                  <a:txBody>
                    <a:bodyPr/>
                    <a:lstStyle/>
                    <a:p>
                      <a:r>
                        <a:rPr sz="950" b="1" i="0">
                          <a:solidFill>
                            <a:srgbClr val="1C2736"/>
                          </a:solidFill>
                          <a:latin typeface="Calibri"/>
                        </a:rPr>
                        <a:t>Detection F1 (bệnh nhân)</a:t>
                      </a:r>
                    </a:p>
                  </a:txBody>
                  <a:tcPr marL="50800" marR="50800" marT="12700" marB="12700" anchor="ctr">
                    <a:solidFill>
                      <a:srgbClr val="FFFFFF"/>
                    </a:solidFill>
                  </a:tcPr>
                </a:tc>
                <a:tc>
                  <a:txBody>
                    <a:bodyPr/>
                    <a:lstStyle/>
                    <a:p>
                      <a:r>
                        <a:rPr sz="950" b="0" i="0">
                          <a:solidFill>
                            <a:srgbClr val="1C2736"/>
                          </a:solidFill>
                          <a:latin typeface="Calibri"/>
                        </a:rPr>
                        <a:t>0.33</a:t>
                      </a:r>
                    </a:p>
                  </a:txBody>
                  <a:tcPr marL="50800" marR="50800" marT="12700" marB="12700" anchor="ctr">
                    <a:solidFill>
                      <a:srgbClr val="FFFFFF"/>
                    </a:solidFill>
                  </a:tcPr>
                </a:tc>
                <a:tc>
                  <a:txBody>
                    <a:bodyPr/>
                    <a:lstStyle/>
                    <a:p>
                      <a:r>
                        <a:rPr sz="950" b="0" i="0">
                          <a:solidFill>
                            <a:srgbClr val="1C2736"/>
                          </a:solidFill>
                          <a:latin typeface="Calibri"/>
                        </a:rPr>
                        <a:t>0.89</a:t>
                      </a:r>
                    </a:p>
                  </a:txBody>
                  <a:tcPr marL="50800" marR="50800" marT="12700" marB="12700" anchor="ctr">
                    <a:solidFill>
                      <a:srgbClr val="FFFFFF"/>
                    </a:solidFill>
                  </a:tcPr>
                </a:tc>
              </a:tr>
              <a:tr h="365760">
                <a:tc>
                  <a:txBody>
                    <a:bodyPr/>
                    <a:lstStyle/>
                    <a:p>
                      <a:r>
                        <a:rPr sz="950" b="1" i="0">
                          <a:solidFill>
                            <a:srgbClr val="1C2736"/>
                          </a:solidFill>
                          <a:latin typeface="Calibri"/>
                        </a:rPr>
                        <a:t>Sensitivity (bắt u)</a:t>
                      </a:r>
                    </a:p>
                  </a:txBody>
                  <a:tcPr marL="50800" marR="50800" marT="12700" marB="12700" anchor="ctr">
                    <a:solidFill>
                      <a:srgbClr val="E8F0F8"/>
                    </a:solidFill>
                  </a:tcPr>
                </a:tc>
                <a:tc>
                  <a:txBody>
                    <a:bodyPr/>
                    <a:lstStyle/>
                    <a:p>
                      <a:r>
                        <a:rPr sz="950" b="0" i="0">
                          <a:solidFill>
                            <a:srgbClr val="1C2736"/>
                          </a:solidFill>
                          <a:latin typeface="Calibri"/>
                        </a:rPr>
                        <a:t>20%</a:t>
                      </a:r>
                    </a:p>
                  </a:txBody>
                  <a:tcPr marL="50800" marR="50800" marT="12700" marB="12700" anchor="ctr">
                    <a:solidFill>
                      <a:srgbClr val="E8F0F8"/>
                    </a:solidFill>
                  </a:tcPr>
                </a:tc>
                <a:tc>
                  <a:txBody>
                    <a:bodyPr/>
                    <a:lstStyle/>
                    <a:p>
                      <a:r>
                        <a:rPr sz="950" b="0" i="0">
                          <a:solidFill>
                            <a:srgbClr val="1C2736"/>
                          </a:solidFill>
                          <a:latin typeface="Calibri"/>
                        </a:rPr>
                        <a:t>80% (20/25)</a:t>
                      </a:r>
                    </a:p>
                  </a:txBody>
                  <a:tcPr marL="50800" marR="50800" marT="12700" marB="12700" anchor="ctr">
                    <a:solidFill>
                      <a:srgbClr val="E8F0F8"/>
                    </a:solidFill>
                  </a:tcPr>
                </a:tc>
              </a:tr>
              <a:tr h="365760">
                <a:tc>
                  <a:txBody>
                    <a:bodyPr/>
                    <a:lstStyle/>
                    <a:p>
                      <a:r>
                        <a:rPr sz="950" b="1" i="0">
                          <a:solidFill>
                            <a:srgbClr val="1C2736"/>
                          </a:solidFill>
                          <a:latin typeface="Calibri"/>
                        </a:rPr>
                        <a:t>False-positive (lát âm)</a:t>
                      </a:r>
                    </a:p>
                  </a:txBody>
                  <a:tcPr marL="50800" marR="50800" marT="12700" marB="12700" anchor="ctr">
                    <a:solidFill>
                      <a:srgbClr val="FFFFFF"/>
                    </a:solidFill>
                  </a:tcPr>
                </a:tc>
                <a:tc>
                  <a:txBody>
                    <a:bodyPr/>
                    <a:lstStyle/>
                    <a:p>
                      <a:r>
                        <a:rPr sz="950" b="0" i="0">
                          <a:solidFill>
                            <a:srgbClr val="1C2736"/>
                          </a:solidFill>
                          <a:latin typeface="Calibri"/>
                        </a:rPr>
                        <a:t>2.2%</a:t>
                      </a:r>
                    </a:p>
                  </a:txBody>
                  <a:tcPr marL="50800" marR="50800" marT="12700" marB="12700" anchor="ctr">
                    <a:solidFill>
                      <a:srgbClr val="FFFFFF"/>
                    </a:solidFill>
                  </a:tcPr>
                </a:tc>
                <a:tc>
                  <a:txBody>
                    <a:bodyPr/>
                    <a:lstStyle/>
                    <a:p>
                      <a:r>
                        <a:rPr sz="950" b="0" i="0">
                          <a:solidFill>
                            <a:srgbClr val="1C2736"/>
                          </a:solidFill>
                          <a:latin typeface="Calibri"/>
                        </a:rPr>
                        <a:t>1.5% (2/135)</a:t>
                      </a:r>
                    </a:p>
                  </a:txBody>
                  <a:tcPr marL="50800" marR="50800" marT="12700" marB="12700" anchor="ctr">
                    <a:solidFill>
                      <a:srgbClr val="FFFFFF"/>
                    </a:solidFill>
                  </a:tcPr>
                </a:tc>
              </a:tr>
              <a:tr h="365760">
                <a:tc>
                  <a:txBody>
                    <a:bodyPr/>
                    <a:lstStyle/>
                    <a:p>
                      <a:r>
                        <a:rPr sz="950" b="1" i="0">
                          <a:solidFill>
                            <a:srgbClr val="1C2736"/>
                          </a:solidFill>
                          <a:latin typeface="Calibri"/>
                        </a:rPr>
                        <a:t>Specificity/Prec (bệnh nhân)</a:t>
                      </a:r>
                    </a:p>
                  </a:txBody>
                  <a:tcPr marL="50800" marR="50800" marT="12700" marB="12700" anchor="ctr">
                    <a:solidFill>
                      <a:srgbClr val="E8F0F8"/>
                    </a:solidFill>
                  </a:tcPr>
                </a:tc>
                <a:tc>
                  <a:txBody>
                    <a:bodyPr/>
                    <a:lstStyle/>
                    <a:p>
                      <a:r>
                        <a:rPr sz="950" b="0" i="0">
                          <a:solidFill>
                            <a:srgbClr val="1C2736"/>
                          </a:solidFill>
                          <a:latin typeface="Calibri"/>
                        </a:rPr>
                        <a:t>—</a:t>
                      </a:r>
                    </a:p>
                  </a:txBody>
                  <a:tcPr marL="50800" marR="50800" marT="12700" marB="12700" anchor="ctr">
                    <a:solidFill>
                      <a:srgbClr val="E8F0F8"/>
                    </a:solidFill>
                  </a:tcPr>
                </a:tc>
                <a:tc>
                  <a:txBody>
                    <a:bodyPr/>
                    <a:lstStyle/>
                    <a:p>
                      <a:r>
                        <a:rPr sz="950" b="0" i="0">
                          <a:solidFill>
                            <a:srgbClr val="1C2736"/>
                          </a:solidFill>
                          <a:latin typeface="Calibri"/>
                        </a:rPr>
                        <a:t>100% (2/2 — n=2!)</a:t>
                      </a:r>
                    </a:p>
                  </a:txBody>
                  <a:tcPr marL="50800" marR="50800" marT="12700" marB="12700" anchor="ctr">
                    <a:solidFill>
                      <a:srgbClr val="E8F0F8"/>
                    </a:solidFill>
                  </a:tcPr>
                </a:tc>
              </a:tr>
            </a:tbl>
          </a:graphicData>
        </a:graphic>
      </p:graphicFrame>
      <p:sp>
        <p:nvSpPr>
          <p:cNvPr id="6" name="Rectangle 5"/>
          <p:cNvSpPr/>
          <p:nvPr/>
        </p:nvSpPr>
        <p:spPr>
          <a:xfrm>
            <a:off x="365760" y="3172968"/>
            <a:ext cx="5029200" cy="868680"/>
          </a:xfrm>
          <a:prstGeom prst="rect">
            <a:avLst/>
          </a:prstGeom>
          <a:solidFill>
            <a:srgbClr val="FB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3236975"/>
            <a:ext cx="4809744" cy="740664"/>
          </a:xfrm>
          <a:prstGeom prst="rect">
            <a:avLst/>
          </a:prstGeom>
          <a:noFill/>
        </p:spPr>
        <p:txBody>
          <a:bodyPr wrap="square" anchor="t" lIns="25400" rIns="25400" tIns="12700" bIns="12700">
            <a:spAutoFit/>
          </a:bodyPr>
          <a:lstStyle/>
          <a:p>
            <a:r>
              <a:rPr sz="1000" b="1" i="0">
                <a:solidFill>
                  <a:srgbClr val="A04646"/>
                </a:solidFill>
                <a:latin typeface="Calibri"/>
              </a:rPr>
              <a:t>⚠ Caveat bắt buộc</a:t>
            </a:r>
          </a:p>
          <a:p>
            <a:pPr>
              <a:spcBef>
                <a:spcPts val="100"/>
              </a:spcBef>
            </a:pPr>
            <a:r>
              <a:rPr sz="950" b="0" i="0">
                <a:solidFill>
                  <a:srgbClr val="1C2736"/>
                </a:solidFill>
                <a:latin typeface="Calibri"/>
              </a:rPr>
              <a:t>Spec/Prec 100% tựa trên CHỈ 2 bệnh nhân không-u → rất yếu thống kê; là phân biệt lát nội-bệnh-nhân, KHÔNG phải specificity lâm sàng.</a:t>
            </a:r>
          </a:p>
        </p:txBody>
      </p:sp>
      <p:pic>
        <p:nvPicPr>
          <p:cNvPr id="8" name="Picture 7" descr="detect_before_after.png"/>
          <p:cNvPicPr>
            <a:picLocks noChangeAspect="1"/>
          </p:cNvPicPr>
          <p:nvPr/>
        </p:nvPicPr>
        <p:blipFill>
          <a:blip r:embed="rId2"/>
          <a:stretch>
            <a:fillRect/>
          </a:stretch>
        </p:blipFill>
        <p:spPr>
          <a:xfrm>
            <a:off x="5577840" y="1481328"/>
            <a:ext cx="3291840" cy="1900922"/>
          </a:xfrm>
          <a:prstGeom prst="rect">
            <a:avLst/>
          </a:prstGeom>
        </p:spPr>
      </p:pic>
      <p:sp>
        <p:nvSpPr>
          <p:cNvPr id="9" name="TextBox 8"/>
          <p:cNvSpPr txBox="1"/>
          <p:nvPr/>
        </p:nvSpPr>
        <p:spPr>
          <a:xfrm>
            <a:off x="5577840" y="3400538"/>
            <a:ext cx="3291840" cy="320040"/>
          </a:xfrm>
          <a:prstGeom prst="rect">
            <a:avLst/>
          </a:prstGeom>
          <a:noFill/>
        </p:spPr>
        <p:txBody>
          <a:bodyPr wrap="square" anchor="t" lIns="25400" rIns="25400" tIns="12700" bIns="12700">
            <a:spAutoFit/>
          </a:bodyPr>
          <a:lstStyle/>
          <a:p>
            <a:pPr algn="ctr"/>
            <a:r>
              <a:rPr sz="750" b="0" i="1">
                <a:solidFill>
                  <a:srgbClr val="6B7F95"/>
                </a:solidFill>
                <a:latin typeface="Calibri"/>
              </a:rPr>
              <a:t>Trước → sau fine-tune</a:t>
            </a:r>
          </a:p>
        </p:txBody>
      </p:sp>
      <p:sp>
        <p:nvSpPr>
          <p:cNvPr id="10" name="Rectangle 9"/>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12" name="TextBox 11"/>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Kết quả: Định vị + vì sao model SÓT u</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C — Kết quả</a:t>
            </a:r>
          </a:p>
        </p:txBody>
      </p:sp>
      <p:sp>
        <p:nvSpPr>
          <p:cNvPr id="5" name="TextBox 4"/>
          <p:cNvSpPr txBox="1"/>
          <p:nvPr/>
        </p:nvSpPr>
        <p:spPr>
          <a:xfrm>
            <a:off x="365760" y="1298448"/>
            <a:ext cx="5029200" cy="3108960"/>
          </a:xfrm>
          <a:prstGeom prst="rect">
            <a:avLst/>
          </a:prstGeom>
          <a:noFill/>
        </p:spPr>
        <p:txBody>
          <a:bodyPr wrap="square" anchor="t" lIns="25400" rIns="25400" tIns="12700" bIns="12700">
            <a:spAutoFit/>
          </a:bodyPr>
          <a:lstStyle/>
          <a:p>
            <a:pPr>
              <a:spcBef>
                <a:spcPts val="0"/>
              </a:spcBef>
              <a:spcAft>
                <a:spcPts val="600"/>
              </a:spcAft>
            </a:pPr>
            <a:r>
              <a:rPr sz="1100" b="1" i="0">
                <a:solidFill>
                  <a:srgbClr val="1A3A5C"/>
                </a:solidFill>
                <a:latin typeface="Calibri"/>
              </a:rPr>
              <a:t>▪  </a:t>
            </a:r>
            <a:r>
              <a:rPr sz="1100" b="1" i="0">
                <a:solidFill>
                  <a:srgbClr val="1C2736"/>
                </a:solidFill>
                <a:latin typeface="Calibri"/>
              </a:rPr>
              <a:t>Localization TRUNG BÌNH</a:t>
            </a:r>
            <a:r>
              <a:rPr sz="1100" b="0" i="0">
                <a:solidFill>
                  <a:srgbClr val="1C2736"/>
                </a:solidFill>
                <a:latin typeface="Calibri"/>
              </a:rPr>
              <a:t> (đã tách): per-patient </a:t>
            </a:r>
            <a:r>
              <a:rPr sz="1100" b="1" i="0">
                <a:solidFill>
                  <a:srgbClr val="1C2736"/>
                </a:solidFill>
                <a:latin typeface="Calibri"/>
              </a:rPr>
              <a:t>pIoU ≈ 0.27</a:t>
            </a:r>
            <a:r>
              <a:rPr sz="1100" b="0" i="0">
                <a:solidFill>
                  <a:srgbClr val="1C2736"/>
                </a:solidFill>
                <a:latin typeface="Calibri"/>
              </a:rPr>
              <a:t>, CI95 [0.19, 0.36]; recall@0.25 ≈ </a:t>
            </a:r>
            <a:r>
              <a:rPr sz="1100" b="1" i="0">
                <a:solidFill>
                  <a:srgbClr val="1C2736"/>
                </a:solidFill>
                <a:latin typeface="Calibri"/>
              </a:rPr>
              <a:t>54%</a:t>
            </a:r>
            <a:r>
              <a:rPr sz="1100" b="0" i="0">
                <a:solidFill>
                  <a:srgbClr val="1C2736"/>
                </a:solidFill>
                <a:latin typeface="Calibri"/>
              </a:rPr>
              <a:t> (nhỏ 35% / vừa 54% / lớn 74%).</a:t>
            </a:r>
          </a:p>
          <a:p>
            <a:pPr>
              <a:spcBef>
                <a:spcPts val="0"/>
              </a:spcBef>
              <a:spcAft>
                <a:spcPts val="600"/>
              </a:spcAft>
            </a:pPr>
            <a:r>
              <a:rPr sz="1100" b="1" i="0">
                <a:solidFill>
                  <a:srgbClr val="1A3A5C"/>
                </a:solidFill>
                <a:latin typeface="Calibri"/>
              </a:rPr>
              <a:t>▪  </a:t>
            </a:r>
            <a:r>
              <a:rPr sz="1100" b="1" i="0">
                <a:solidFill>
                  <a:srgbClr val="1C2736"/>
                </a:solidFill>
                <a:latin typeface="Calibri"/>
              </a:rPr>
              <a:t>Sót KHÔNG chỉ do u nhỏ:</a:t>
            </a:r>
            <a:r>
              <a:rPr sz="1100" b="0" i="0">
                <a:solidFill>
                  <a:srgbClr val="1C2736"/>
                </a:solidFill>
                <a:latin typeface="Calibri"/>
              </a:rPr>
              <a:t> theo TỪNG ổ, ổ sót nhỏ hơn ~2× VÀ tương phản kém hơn; nhưng theo BỆNH NHÂN thì cỡ gần bằng nhau.</a:t>
            </a:r>
          </a:p>
          <a:p>
            <a:pPr lvl="1">
              <a:spcBef>
                <a:spcPts val="0"/>
              </a:spcBef>
              <a:spcAft>
                <a:spcPts val="600"/>
              </a:spcAft>
            </a:pPr>
            <a:r>
              <a:rPr sz="1100" b="0" i="0">
                <a:solidFill>
                  <a:srgbClr val="757070"/>
                </a:solidFill>
                <a:latin typeface="Calibri"/>
              </a:rPr>
              <a:t>–  </a:t>
            </a:r>
            <a:r>
              <a:rPr sz="1050" b="1" i="0">
                <a:solidFill>
                  <a:srgbClr val="757070"/>
                </a:solidFill>
                <a:latin typeface="Calibri"/>
              </a:rPr>
              <a:t>Low-contrast/isointense</a:t>
            </a:r>
            <a:r>
              <a:rPr sz="1050" b="0" i="0">
                <a:solidFill>
                  <a:srgbClr val="757070"/>
                </a:solidFill>
                <a:latin typeface="Calibri"/>
              </a:rPr>
              <a:t> (u sáng gần bằng gan) mới phân biệt được cả u to — pid116 u 5.63% vẫn sót.</a:t>
            </a:r>
          </a:p>
          <a:p>
            <a:pPr lvl="1">
              <a:spcBef>
                <a:spcPts val="0"/>
              </a:spcBef>
              <a:spcAft>
                <a:spcPts val="600"/>
              </a:spcAft>
            </a:pPr>
            <a:r>
              <a:rPr sz="1100" b="0" i="0">
                <a:solidFill>
                  <a:srgbClr val="757070"/>
                </a:solidFill>
                <a:latin typeface="Calibri"/>
              </a:rPr>
              <a:t>–  </a:t>
            </a:r>
            <a:r>
              <a:rPr sz="1050" b="0" i="0">
                <a:solidFill>
                  <a:srgbClr val="757070"/>
                </a:solidFill>
                <a:latin typeface="Calibri"/>
              </a:rPr>
              <a:t>Nghi cửa sổ CT rộng (WL40/WW400) → </a:t>
            </a:r>
            <a:r>
              <a:rPr sz="1050" b="1" i="0">
                <a:solidFill>
                  <a:srgbClr val="757070"/>
                </a:solidFill>
                <a:latin typeface="Calibri"/>
              </a:rPr>
              <a:t>cửa sổ gan hẹp</a:t>
            </a:r>
            <a:r>
              <a:rPr sz="1050" b="0" i="0">
                <a:solidFill>
                  <a:srgbClr val="757070"/>
                </a:solidFill>
                <a:latin typeface="Calibri"/>
              </a:rPr>
              <a:t> là hướng thử tiếp.</a:t>
            </a:r>
          </a:p>
        </p:txBody>
      </p:sp>
      <p:pic>
        <p:nvPicPr>
          <p:cNvPr id="6" name="Picture 5" descr="pid116_contrast.png"/>
          <p:cNvPicPr>
            <a:picLocks noChangeAspect="1"/>
          </p:cNvPicPr>
          <p:nvPr/>
        </p:nvPicPr>
        <p:blipFill>
          <a:blip r:embed="rId2"/>
          <a:stretch>
            <a:fillRect/>
          </a:stretch>
        </p:blipFill>
        <p:spPr>
          <a:xfrm>
            <a:off x="5623560" y="1344168"/>
            <a:ext cx="3200400" cy="1100970"/>
          </a:xfrm>
          <a:prstGeom prst="rect">
            <a:avLst/>
          </a:prstGeom>
        </p:spPr>
      </p:pic>
      <p:sp>
        <p:nvSpPr>
          <p:cNvPr id="7" name="TextBox 6"/>
          <p:cNvSpPr txBox="1"/>
          <p:nvPr/>
        </p:nvSpPr>
        <p:spPr>
          <a:xfrm>
            <a:off x="5623560" y="2463426"/>
            <a:ext cx="3200400" cy="320040"/>
          </a:xfrm>
          <a:prstGeom prst="rect">
            <a:avLst/>
          </a:prstGeom>
          <a:noFill/>
        </p:spPr>
        <p:txBody>
          <a:bodyPr wrap="square" anchor="t" lIns="25400" rIns="25400" tIns="12700" bIns="12700">
            <a:spAutoFit/>
          </a:bodyPr>
          <a:lstStyle/>
          <a:p>
            <a:pPr algn="ctr"/>
            <a:r>
              <a:rPr sz="750" b="0" i="1">
                <a:solidFill>
                  <a:srgbClr val="6B7F95"/>
                </a:solidFill>
                <a:latin typeface="Calibri"/>
              </a:rPr>
              <a:t>pid116: u 5.63% vẫn khó thấy (isointense)</a:t>
            </a:r>
          </a:p>
        </p:txBody>
      </p:sp>
      <p:pic>
        <p:nvPicPr>
          <p:cNvPr id="8" name="Picture 7" descr="missed_patients_v3.png"/>
          <p:cNvPicPr>
            <a:picLocks noChangeAspect="1"/>
          </p:cNvPicPr>
          <p:nvPr/>
        </p:nvPicPr>
        <p:blipFill>
          <a:blip r:embed="rId3"/>
          <a:stretch>
            <a:fillRect/>
          </a:stretch>
        </p:blipFill>
        <p:spPr>
          <a:xfrm>
            <a:off x="5623560" y="3447288"/>
            <a:ext cx="3200400" cy="665095"/>
          </a:xfrm>
          <a:prstGeom prst="rect">
            <a:avLst/>
          </a:prstGeom>
        </p:spPr>
      </p:pic>
      <p:sp>
        <p:nvSpPr>
          <p:cNvPr id="9" name="TextBox 8"/>
          <p:cNvSpPr txBox="1"/>
          <p:nvPr/>
        </p:nvSpPr>
        <p:spPr>
          <a:xfrm>
            <a:off x="5623560" y="4130670"/>
            <a:ext cx="3200400" cy="320040"/>
          </a:xfrm>
          <a:prstGeom prst="rect">
            <a:avLst/>
          </a:prstGeom>
          <a:noFill/>
        </p:spPr>
        <p:txBody>
          <a:bodyPr wrap="square" anchor="t" lIns="25400" rIns="25400" tIns="12700" bIns="12700">
            <a:spAutoFit/>
          </a:bodyPr>
          <a:lstStyle/>
          <a:p>
            <a:pPr algn="ctr"/>
            <a:r>
              <a:rPr sz="750" b="0" i="1">
                <a:solidFill>
                  <a:srgbClr val="6B7F95"/>
                </a:solidFill>
                <a:latin typeface="Calibri"/>
              </a:rPr>
              <a:t>tổng quan các ca bị sót</a:t>
            </a:r>
          </a:p>
        </p:txBody>
      </p:sp>
      <p:sp>
        <p:nvSpPr>
          <p:cNvPr id="10" name="Rectangle 9"/>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12" name="TextBox 11"/>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Kết quả: Fine-tune KHÔNG làm “quên”</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C — Kết quả</a:t>
            </a:r>
          </a:p>
        </p:txBody>
      </p:sp>
      <p:sp>
        <p:nvSpPr>
          <p:cNvPr id="5" name="TextBox 4"/>
          <p:cNvSpPr txBox="1"/>
          <p:nvPr/>
        </p:nvSpPr>
        <p:spPr>
          <a:xfrm>
            <a:off x="365760" y="1298448"/>
            <a:ext cx="4206240" cy="3108960"/>
          </a:xfrm>
          <a:prstGeom prst="rect">
            <a:avLst/>
          </a:prstGeom>
          <a:noFill/>
        </p:spPr>
        <p:txBody>
          <a:bodyPr wrap="square" anchor="t" lIns="25400" rIns="25400" tIns="12700" bIns="12700">
            <a:spAutoFit/>
          </a:bodyPr>
          <a:lstStyle/>
          <a:p>
            <a:pPr>
              <a:spcBef>
                <a:spcPts val="0"/>
              </a:spcBef>
              <a:spcAft>
                <a:spcPts val="600"/>
              </a:spcAft>
            </a:pPr>
            <a:r>
              <a:rPr sz="1150" b="1" i="0">
                <a:solidFill>
                  <a:srgbClr val="1A3A5C"/>
                </a:solidFill>
                <a:latin typeface="Calibri"/>
              </a:rPr>
              <a:t>▪  </a:t>
            </a:r>
            <a:r>
              <a:rPr sz="1150" b="0" i="0">
                <a:solidFill>
                  <a:srgbClr val="1C2736"/>
                </a:solidFill>
                <a:latin typeface="Calibri"/>
              </a:rPr>
              <a:t>Lo ngại: fine-tune hẹp có làm mất khả năng nói chuyện? → kiểm bằng </a:t>
            </a:r>
            <a:r>
              <a:rPr sz="1150" b="1" i="0">
                <a:solidFill>
                  <a:srgbClr val="1C2736"/>
                </a:solidFill>
                <a:latin typeface="Calibri"/>
              </a:rPr>
              <a:t>hội thoại đa lượt</a:t>
            </a:r>
            <a:r>
              <a:rPr sz="1150" b="0" i="0">
                <a:solidFill>
                  <a:srgbClr val="1C2736"/>
                </a:solidFill>
                <a:latin typeface="Calibri"/>
              </a:rPr>
              <a:t>, lưu JSON.</a:t>
            </a:r>
          </a:p>
          <a:p>
            <a:pPr>
              <a:spcBef>
                <a:spcPts val="0"/>
              </a:spcBef>
              <a:spcAft>
                <a:spcPts val="600"/>
              </a:spcAft>
            </a:pPr>
            <a:r>
              <a:rPr sz="1150" b="1" i="0">
                <a:solidFill>
                  <a:srgbClr val="1A3A5C"/>
                </a:solidFill>
                <a:latin typeface="Calibri"/>
              </a:rPr>
              <a:t>▪  </a:t>
            </a:r>
            <a:r>
              <a:rPr sz="1150" b="0" i="0">
                <a:solidFill>
                  <a:srgbClr val="1C2736"/>
                </a:solidFill>
                <a:latin typeface="Calibri"/>
              </a:rPr>
              <a:t>Model vừa </a:t>
            </a:r>
            <a:r>
              <a:rPr sz="1150" b="1" i="0">
                <a:solidFill>
                  <a:srgbClr val="1C2736"/>
                </a:solidFill>
                <a:latin typeface="Calibri"/>
              </a:rPr>
              <a:t>khoanh u</a:t>
            </a:r>
            <a:r>
              <a:rPr sz="1150" b="0" i="0">
                <a:solidFill>
                  <a:srgbClr val="1C2736"/>
                </a:solidFill>
                <a:latin typeface="Calibri"/>
              </a:rPr>
              <a:t> vừa: trả JSON đúng key, làm thơ, tính 17×23=</a:t>
            </a:r>
            <a:r>
              <a:rPr sz="1150" b="1" i="0">
                <a:solidFill>
                  <a:srgbClr val="1C2736"/>
                </a:solidFill>
                <a:latin typeface="Calibri"/>
              </a:rPr>
              <a:t>391</a:t>
            </a:r>
            <a:r>
              <a:rPr sz="1150" b="0" i="0">
                <a:solidFill>
                  <a:srgbClr val="1C2736"/>
                </a:solidFill>
                <a:latin typeface="Calibri"/>
              </a:rPr>
              <a:t>, giải thích song ngữ.</a:t>
            </a:r>
          </a:p>
          <a:p>
            <a:pPr>
              <a:spcBef>
                <a:spcPts val="0"/>
              </a:spcBef>
              <a:spcAft>
                <a:spcPts val="600"/>
              </a:spcAft>
            </a:pPr>
            <a:r>
              <a:rPr sz="1150" b="1" i="0">
                <a:solidFill>
                  <a:srgbClr val="1A3A5C"/>
                </a:solidFill>
                <a:latin typeface="Calibri"/>
              </a:rPr>
              <a:t>▪  </a:t>
            </a:r>
            <a:r>
              <a:rPr sz="1150" b="1" i="0">
                <a:solidFill>
                  <a:srgbClr val="1C2736"/>
                </a:solidFill>
                <a:latin typeface="Calibri"/>
              </a:rPr>
              <a:t>Vì sao giữ được:</a:t>
            </a:r>
            <a:r>
              <a:rPr sz="1150" b="0" i="0">
                <a:solidFill>
                  <a:srgbClr val="1C2736"/>
                </a:solidFill>
                <a:latin typeface="Calibri"/>
              </a:rPr>
              <a:t> LoRA giữ nguyên trọng số gốc → thêm kỹ năng mà không xoá kỹ năng cũ.</a:t>
            </a:r>
          </a:p>
          <a:p>
            <a:pPr lvl="1">
              <a:spcBef>
                <a:spcPts val="0"/>
              </a:spcBef>
              <a:spcAft>
                <a:spcPts val="600"/>
              </a:spcAft>
            </a:pPr>
            <a:r>
              <a:rPr sz="1150" b="0" i="0">
                <a:solidFill>
                  <a:srgbClr val="757070"/>
                </a:solidFill>
                <a:latin typeface="Calibri"/>
              </a:rPr>
              <a:t>–  </a:t>
            </a:r>
            <a:r>
              <a:rPr sz="1100" b="0" i="0">
                <a:solidFill>
                  <a:srgbClr val="757070"/>
                </a:solidFill>
                <a:latin typeface="Calibri"/>
              </a:rPr>
              <a:t>⚠️ Kiểm </a:t>
            </a:r>
            <a:r>
              <a:rPr sz="1100" b="1" i="0">
                <a:solidFill>
                  <a:srgbClr val="757070"/>
                </a:solidFill>
                <a:latin typeface="Calibri"/>
              </a:rPr>
              <a:t>ĐỊNH TÍNH</a:t>
            </a:r>
            <a:r>
              <a:rPr sz="1100" b="0" i="0">
                <a:solidFill>
                  <a:srgbClr val="757070"/>
                </a:solidFill>
                <a:latin typeface="Calibri"/>
              </a:rPr>
              <a:t> (vài ca), chưa phải benchmark tổng quát có số.</a:t>
            </a:r>
          </a:p>
        </p:txBody>
      </p:sp>
      <p:pic>
        <p:nvPicPr>
          <p:cNvPr id="6" name="Picture 5" descr="chat_test_multiturn.png"/>
          <p:cNvPicPr>
            <a:picLocks noChangeAspect="1"/>
          </p:cNvPicPr>
          <p:nvPr/>
        </p:nvPicPr>
        <p:blipFill>
          <a:blip r:embed="rId2"/>
          <a:stretch>
            <a:fillRect/>
          </a:stretch>
        </p:blipFill>
        <p:spPr>
          <a:xfrm>
            <a:off x="4709160" y="1618488"/>
            <a:ext cx="4160520" cy="1632656"/>
          </a:xfrm>
          <a:prstGeom prst="rect">
            <a:avLst/>
          </a:prstGeom>
        </p:spPr>
      </p:pic>
      <p:sp>
        <p:nvSpPr>
          <p:cNvPr id="7" name="TextBox 6"/>
          <p:cNvSpPr txBox="1"/>
          <p:nvPr/>
        </p:nvSpPr>
        <p:spPr>
          <a:xfrm>
            <a:off x="4709160" y="3269432"/>
            <a:ext cx="4160520" cy="320040"/>
          </a:xfrm>
          <a:prstGeom prst="rect">
            <a:avLst/>
          </a:prstGeom>
          <a:noFill/>
        </p:spPr>
        <p:txBody>
          <a:bodyPr wrap="square" anchor="t" lIns="25400" rIns="25400" tIns="12700" bIns="12700">
            <a:spAutoFit/>
          </a:bodyPr>
          <a:lstStyle/>
          <a:p>
            <a:pPr algn="ctr"/>
            <a:r>
              <a:rPr sz="750" b="0" i="1">
                <a:solidFill>
                  <a:srgbClr val="6B7F95"/>
                </a:solidFill>
                <a:latin typeface="Calibri"/>
              </a:rPr>
              <a:t>hội thoại đa lượt (dữ liệu thật)</a:t>
            </a:r>
          </a:p>
        </p:txBody>
      </p:sp>
      <p:sp>
        <p:nvSpPr>
          <p:cNvPr id="8" name="Rectangle 7"/>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10" name="TextBox 9"/>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So sánh với paper gốc</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D — KHÔNG so số trực tiếp; so tính chất</a:t>
            </a:r>
          </a:p>
        </p:txBody>
      </p:sp>
      <p:graphicFrame>
        <p:nvGraphicFramePr>
          <p:cNvPr id="5" name="Table 4"/>
          <p:cNvGraphicFramePr>
            <a:graphicFrameLocks noGrp="1"/>
          </p:cNvGraphicFramePr>
          <p:nvPr/>
        </p:nvGraphicFramePr>
        <p:xfrm>
          <a:off x="365760" y="1298448"/>
          <a:ext cx="5120640" cy="2414016"/>
        </p:xfrm>
        <a:graphic>
          <a:graphicData uri="http://schemas.openxmlformats.org/drawingml/2006/table">
            <a:tbl>
              <a:tblPr>
                <a:tableStyleId>{5C22544A-7EE6-4342-B048-85BDC9FD1C3A}</a:tableStyleId>
              </a:tblPr>
              <a:tblGrid>
                <a:gridCol w="1645920"/>
                <a:gridCol w="1737360"/>
                <a:gridCol w="1737360"/>
              </a:tblGrid>
              <a:tr h="301752">
                <a:tc>
                  <a:txBody>
                    <a:bodyPr/>
                    <a:lstStyle/>
                    <a:p>
                      <a:r>
                        <a:rPr sz="900" b="1" i="0">
                          <a:solidFill>
                            <a:srgbClr val="FFFFFF"/>
                          </a:solidFill>
                          <a:latin typeface="Calibri"/>
                        </a:rPr>
                        <a:t>Khía cạnh</a:t>
                      </a:r>
                    </a:p>
                  </a:txBody>
                  <a:tcPr marL="50800" marR="50800" marT="25400" marB="25400" anchor="ctr">
                    <a:solidFill>
                      <a:srgbClr val="1A3A5C"/>
                    </a:solidFill>
                  </a:tcPr>
                </a:tc>
                <a:tc>
                  <a:txBody>
                    <a:bodyPr/>
                    <a:lstStyle/>
                    <a:p>
                      <a:r>
                        <a:rPr sz="900" b="1" i="0">
                          <a:solidFill>
                            <a:srgbClr val="FFFFFF"/>
                          </a:solidFill>
                          <a:latin typeface="Calibri"/>
                        </a:rPr>
                        <a:t>MedRegA gốc</a:t>
                      </a:r>
                    </a:p>
                  </a:txBody>
                  <a:tcPr marL="50800" marR="50800" marT="25400" marB="25400" anchor="ctr">
                    <a:solidFill>
                      <a:srgbClr val="1A3A5C"/>
                    </a:solidFill>
                  </a:tcPr>
                </a:tc>
                <a:tc>
                  <a:txBody>
                    <a:bodyPr/>
                    <a:lstStyle/>
                    <a:p>
                      <a:r>
                        <a:rPr sz="900" b="1" i="0">
                          <a:solidFill>
                            <a:srgbClr val="FFFFFF"/>
                          </a:solidFill>
                          <a:latin typeface="Calibri"/>
                        </a:rPr>
                        <a:t>Của nhóm</a:t>
                      </a:r>
                    </a:p>
                  </a:txBody>
                  <a:tcPr marL="50800" marR="50800" marT="25400" marB="25400" anchor="ctr">
                    <a:solidFill>
                      <a:srgbClr val="1A3A5C"/>
                    </a:solidFill>
                  </a:tcPr>
                </a:tc>
              </a:tr>
              <a:tr h="301752">
                <a:tc>
                  <a:txBody>
                    <a:bodyPr/>
                    <a:lstStyle/>
                    <a:p>
                      <a:r>
                        <a:rPr sz="880" b="1" i="0">
                          <a:solidFill>
                            <a:srgbClr val="1C2736"/>
                          </a:solidFill>
                          <a:latin typeface="Calibri"/>
                        </a:rPr>
                        <a:t>Quy mô</a:t>
                      </a:r>
                    </a:p>
                  </a:txBody>
                  <a:tcPr marL="50800" marR="50800" marT="12700" marB="12700" anchor="ctr">
                    <a:solidFill>
                      <a:srgbClr val="FFFFFF"/>
                    </a:solidFill>
                  </a:tcPr>
                </a:tc>
                <a:tc>
                  <a:txBody>
                    <a:bodyPr/>
                    <a:lstStyle/>
                    <a:p>
                      <a:r>
                        <a:rPr sz="880" b="0" i="0">
                          <a:solidFill>
                            <a:srgbClr val="1C2736"/>
                          </a:solidFill>
                          <a:latin typeface="Calibri"/>
                        </a:rPr>
                        <a:t>~40B, 16×H800</a:t>
                      </a:r>
                    </a:p>
                  </a:txBody>
                  <a:tcPr marL="50800" marR="50800" marT="12700" marB="12700" anchor="ctr">
                    <a:solidFill>
                      <a:srgbClr val="FFFFFF"/>
                    </a:solidFill>
                  </a:tcPr>
                </a:tc>
                <a:tc>
                  <a:txBody>
                    <a:bodyPr/>
                    <a:lstStyle/>
                    <a:p>
                      <a:r>
                        <a:rPr sz="880" b="0" i="0">
                          <a:solidFill>
                            <a:srgbClr val="1C2736"/>
                          </a:solidFill>
                          <a:latin typeface="Calibri"/>
                        </a:rPr>
                        <a:t>~8B, 1×A100</a:t>
                      </a:r>
                    </a:p>
                  </a:txBody>
                  <a:tcPr marL="50800" marR="50800" marT="12700" marB="12700" anchor="ctr">
                    <a:solidFill>
                      <a:srgbClr val="FFFFFF"/>
                    </a:solidFill>
                  </a:tcPr>
                </a:tc>
              </a:tr>
              <a:tr h="301752">
                <a:tc>
                  <a:txBody>
                    <a:bodyPr/>
                    <a:lstStyle/>
                    <a:p>
                      <a:r>
                        <a:rPr sz="880" b="1" i="0">
                          <a:solidFill>
                            <a:srgbClr val="1C2736"/>
                          </a:solidFill>
                          <a:latin typeface="Calibri"/>
                        </a:rPr>
                        <a:t>Vào 3D</a:t>
                      </a:r>
                    </a:p>
                  </a:txBody>
                  <a:tcPr marL="50800" marR="50800" marT="12700" marB="12700" anchor="ctr">
                    <a:solidFill>
                      <a:srgbClr val="E8F0F8"/>
                    </a:solidFill>
                  </a:tcPr>
                </a:tc>
                <a:tc>
                  <a:txBody>
                    <a:bodyPr/>
                    <a:lstStyle/>
                    <a:p>
                      <a:r>
                        <a:rPr sz="880" b="0" i="0">
                          <a:solidFill>
                            <a:srgbClr val="1C2736"/>
                          </a:solidFill>
                          <a:latin typeface="Calibri"/>
                        </a:rPr>
                        <a:t>1 lát trung tâm</a:t>
                      </a:r>
                    </a:p>
                  </a:txBody>
                  <a:tcPr marL="50800" marR="50800" marT="12700" marB="12700" anchor="ctr">
                    <a:solidFill>
                      <a:srgbClr val="E8F0F8"/>
                    </a:solidFill>
                  </a:tcPr>
                </a:tc>
                <a:tc>
                  <a:txBody>
                    <a:bodyPr/>
                    <a:lstStyle/>
                    <a:p>
                      <a:r>
                        <a:rPr sz="880" b="0" i="0">
                          <a:solidFill>
                            <a:srgbClr val="1C2736"/>
                          </a:solidFill>
                          <a:latin typeface="Calibri"/>
                        </a:rPr>
                        <a:t>đa lát + ca âm</a:t>
                      </a:r>
                    </a:p>
                  </a:txBody>
                  <a:tcPr marL="50800" marR="50800" marT="12700" marB="12700" anchor="ctr">
                    <a:solidFill>
                      <a:srgbClr val="E8F0F8"/>
                    </a:solidFill>
                  </a:tcPr>
                </a:tc>
              </a:tr>
              <a:tr h="301752">
                <a:tc>
                  <a:txBody>
                    <a:bodyPr/>
                    <a:lstStyle/>
                    <a:p>
                      <a:r>
                        <a:rPr sz="880" b="1" i="0">
                          <a:solidFill>
                            <a:srgbClr val="1C2736"/>
                          </a:solidFill>
                          <a:latin typeface="Calibri"/>
                        </a:rPr>
                        <a:t>Nhãn vùng</a:t>
                      </a:r>
                    </a:p>
                  </a:txBody>
                  <a:tcPr marL="50800" marR="50800" marT="12700" marB="12700" anchor="ctr">
                    <a:solidFill>
                      <a:srgbClr val="FFFFFF"/>
                    </a:solidFill>
                  </a:tcPr>
                </a:tc>
                <a:tc>
                  <a:txBody>
                    <a:bodyPr/>
                    <a:lstStyle/>
                    <a:p>
                      <a:r>
                        <a:rPr sz="880" b="0" i="0">
                          <a:solidFill>
                            <a:srgbClr val="1C2736"/>
                          </a:solidFill>
                          <a:latin typeface="Calibri"/>
                        </a:rPr>
                        <a:t>box gộp thô</a:t>
                      </a:r>
                    </a:p>
                  </a:txBody>
                  <a:tcPr marL="50800" marR="50800" marT="12700" marB="12700" anchor="ctr">
                    <a:solidFill>
                      <a:srgbClr val="FFFFFF"/>
                    </a:solidFill>
                  </a:tcPr>
                </a:tc>
                <a:tc>
                  <a:txBody>
                    <a:bodyPr/>
                    <a:lstStyle/>
                    <a:p>
                      <a:r>
                        <a:rPr sz="880" b="0" i="0">
                          <a:solidFill>
                            <a:srgbClr val="1C2736"/>
                          </a:solidFill>
                          <a:latin typeface="Calibri"/>
                        </a:rPr>
                        <a:t>multi-box</a:t>
                      </a:r>
                    </a:p>
                  </a:txBody>
                  <a:tcPr marL="50800" marR="50800" marT="12700" marB="12700" anchor="ctr">
                    <a:solidFill>
                      <a:srgbClr val="FFFFFF"/>
                    </a:solidFill>
                  </a:tcPr>
                </a:tc>
              </a:tr>
              <a:tr h="301752">
                <a:tc>
                  <a:txBody>
                    <a:bodyPr/>
                    <a:lstStyle/>
                    <a:p>
                      <a:r>
                        <a:rPr sz="880" b="1" i="0">
                          <a:solidFill>
                            <a:srgbClr val="1C2736"/>
                          </a:solidFill>
                          <a:latin typeface="Calibri"/>
                        </a:rPr>
                        <a:t>Đơn vị đánh giá</a:t>
                      </a:r>
                    </a:p>
                  </a:txBody>
                  <a:tcPr marL="50800" marR="50800" marT="12700" marB="12700" anchor="ctr">
                    <a:solidFill>
                      <a:srgbClr val="E8F0F8"/>
                    </a:solidFill>
                  </a:tcPr>
                </a:tc>
                <a:tc>
                  <a:txBody>
                    <a:bodyPr/>
                    <a:lstStyle/>
                    <a:p>
                      <a:r>
                        <a:rPr sz="880" b="0" i="0">
                          <a:solidFill>
                            <a:srgbClr val="1C2736"/>
                          </a:solidFill>
                          <a:latin typeface="Calibri"/>
                        </a:rPr>
                        <a:t>per-image</a:t>
                      </a:r>
                    </a:p>
                  </a:txBody>
                  <a:tcPr marL="50800" marR="50800" marT="12700" marB="12700" anchor="ctr">
                    <a:solidFill>
                      <a:srgbClr val="E8F0F8"/>
                    </a:solidFill>
                  </a:tcPr>
                </a:tc>
                <a:tc>
                  <a:txBody>
                    <a:bodyPr/>
                    <a:lstStyle/>
                    <a:p>
                      <a:r>
                        <a:rPr sz="880" b="0" i="0">
                          <a:solidFill>
                            <a:srgbClr val="1C2736"/>
                          </a:solidFill>
                          <a:latin typeface="Calibri"/>
                        </a:rPr>
                        <a:t>per-patient + CI</a:t>
                      </a:r>
                    </a:p>
                  </a:txBody>
                  <a:tcPr marL="50800" marR="50800" marT="12700" marB="12700" anchor="ctr">
                    <a:solidFill>
                      <a:srgbClr val="E8F0F8"/>
                    </a:solidFill>
                  </a:tcPr>
                </a:tc>
              </a:tr>
              <a:tr h="301752">
                <a:tc>
                  <a:txBody>
                    <a:bodyPr/>
                    <a:lstStyle/>
                    <a:p>
                      <a:r>
                        <a:rPr sz="880" b="1" i="0">
                          <a:solidFill>
                            <a:srgbClr val="1C2736"/>
                          </a:solidFill>
                          <a:latin typeface="Calibri"/>
                        </a:rPr>
                        <a:t>Detect vs Localize</a:t>
                      </a:r>
                    </a:p>
                  </a:txBody>
                  <a:tcPr marL="50800" marR="50800" marT="12700" marB="12700" anchor="ctr">
                    <a:solidFill>
                      <a:srgbClr val="FFFFFF"/>
                    </a:solidFill>
                  </a:tcPr>
                </a:tc>
                <a:tc>
                  <a:txBody>
                    <a:bodyPr/>
                    <a:lstStyle/>
                    <a:p>
                      <a:r>
                        <a:rPr sz="880" b="0" i="0">
                          <a:solidFill>
                            <a:srgbClr val="1C2736"/>
                          </a:solidFill>
                          <a:latin typeface="Calibri"/>
                        </a:rPr>
                        <a:t>gộp</a:t>
                      </a:r>
                    </a:p>
                  </a:txBody>
                  <a:tcPr marL="50800" marR="50800" marT="12700" marB="12700" anchor="ctr">
                    <a:solidFill>
                      <a:srgbClr val="FFFFFF"/>
                    </a:solidFill>
                  </a:tcPr>
                </a:tc>
                <a:tc>
                  <a:txBody>
                    <a:bodyPr/>
                    <a:lstStyle/>
                    <a:p>
                      <a:r>
                        <a:rPr sz="880" b="0" i="0">
                          <a:solidFill>
                            <a:srgbClr val="1C2736"/>
                          </a:solidFill>
                          <a:latin typeface="Calibri"/>
                        </a:rPr>
                        <a:t>tách riêng</a:t>
                      </a:r>
                    </a:p>
                  </a:txBody>
                  <a:tcPr marL="50800" marR="50800" marT="12700" marB="12700" anchor="ctr">
                    <a:solidFill>
                      <a:srgbClr val="FFFFFF"/>
                    </a:solidFill>
                  </a:tcPr>
                </a:tc>
              </a:tr>
              <a:tr h="301752">
                <a:tc>
                  <a:txBody>
                    <a:bodyPr/>
                    <a:lstStyle/>
                    <a:p>
                      <a:r>
                        <a:rPr sz="880" b="1" i="0">
                          <a:solidFill>
                            <a:srgbClr val="1C2736"/>
                          </a:solidFill>
                          <a:latin typeface="Calibri"/>
                        </a:rPr>
                        <a:t>Ca âm / FP · Bất định</a:t>
                      </a:r>
                    </a:p>
                  </a:txBody>
                  <a:tcPr marL="50800" marR="50800" marT="12700" marB="12700" anchor="ctr">
                    <a:solidFill>
                      <a:srgbClr val="E8F0F8"/>
                    </a:solidFill>
                  </a:tcPr>
                </a:tc>
                <a:tc>
                  <a:txBody>
                    <a:bodyPr/>
                    <a:lstStyle/>
                    <a:p>
                      <a:r>
                        <a:rPr sz="880" b="0" i="0">
                          <a:solidFill>
                            <a:srgbClr val="1C2736"/>
                          </a:solidFill>
                          <a:latin typeface="Calibri"/>
                        </a:rPr>
                        <a:t>không</a:t>
                      </a:r>
                    </a:p>
                  </a:txBody>
                  <a:tcPr marL="50800" marR="50800" marT="12700" marB="12700" anchor="ctr">
                    <a:solidFill>
                      <a:srgbClr val="E8F0F8"/>
                    </a:solidFill>
                  </a:tcPr>
                </a:tc>
                <a:tc>
                  <a:txBody>
                    <a:bodyPr/>
                    <a:lstStyle/>
                    <a:p>
                      <a:r>
                        <a:rPr sz="880" b="0" i="0">
                          <a:solidFill>
                            <a:srgbClr val="1C2736"/>
                          </a:solidFill>
                          <a:latin typeface="Calibri"/>
                        </a:rPr>
                        <a:t>FP + selective prediction</a:t>
                      </a:r>
                    </a:p>
                  </a:txBody>
                  <a:tcPr marL="50800" marR="50800" marT="12700" marB="12700" anchor="ctr">
                    <a:solidFill>
                      <a:srgbClr val="E8F0F8"/>
                    </a:solidFill>
                  </a:tcPr>
                </a:tc>
              </a:tr>
              <a:tr h="301752">
                <a:tc>
                  <a:txBody>
                    <a:bodyPr/>
                    <a:lstStyle/>
                    <a:p>
                      <a:r>
                        <a:rPr sz="880" b="1" i="0">
                          <a:solidFill>
                            <a:srgbClr val="1C2736"/>
                          </a:solidFill>
                          <a:latin typeface="Calibri"/>
                        </a:rPr>
                        <a:t>Grounded report</a:t>
                      </a:r>
                    </a:p>
                  </a:txBody>
                  <a:tcPr marL="50800" marR="50800" marT="12700" marB="12700" anchor="ctr">
                    <a:solidFill>
                      <a:srgbClr val="FFFFFF"/>
                    </a:solidFill>
                  </a:tcPr>
                </a:tc>
                <a:tc>
                  <a:txBody>
                    <a:bodyPr/>
                    <a:lstStyle/>
                    <a:p>
                      <a:r>
                        <a:rPr sz="880" b="0" i="0">
                          <a:solidFill>
                            <a:srgbClr val="1C2736"/>
                          </a:solidFill>
                          <a:latin typeface="Calibri"/>
                        </a:rPr>
                        <a:t>có</a:t>
                      </a:r>
                    </a:p>
                  </a:txBody>
                  <a:tcPr marL="50800" marR="50800" marT="12700" marB="12700" anchor="ctr">
                    <a:solidFill>
                      <a:srgbClr val="FFFFFF"/>
                    </a:solidFill>
                  </a:tcPr>
                </a:tc>
                <a:tc>
                  <a:txBody>
                    <a:bodyPr/>
                    <a:lstStyle/>
                    <a:p>
                      <a:r>
                        <a:rPr sz="880" b="0" i="0">
                          <a:solidFill>
                            <a:srgbClr val="1C2736"/>
                          </a:solidFill>
                          <a:latin typeface="Calibri"/>
                        </a:rPr>
                        <a:t>chưa (→Future)</a:t>
                      </a:r>
                    </a:p>
                  </a:txBody>
                  <a:tcPr marL="50800" marR="50800" marT="12700" marB="12700" anchor="ctr">
                    <a:solidFill>
                      <a:srgbClr val="FFFFFF"/>
                    </a:solidFill>
                  </a:tcPr>
                </a:tc>
              </a:tr>
            </a:tbl>
          </a:graphicData>
        </a:graphic>
      </p:graphicFrame>
      <p:sp>
        <p:nvSpPr>
          <p:cNvPr id="6" name="Rectangle 5"/>
          <p:cNvSpPr/>
          <p:nvPr/>
        </p:nvSpPr>
        <p:spPr>
          <a:xfrm>
            <a:off x="5623560" y="1389888"/>
            <a:ext cx="3200400" cy="1371600"/>
          </a:xfrm>
          <a:prstGeom prst="rect">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33288" y="1453896"/>
            <a:ext cx="2980944" cy="1243584"/>
          </a:xfrm>
          <a:prstGeom prst="rect">
            <a:avLst/>
          </a:prstGeom>
          <a:noFill/>
        </p:spPr>
        <p:txBody>
          <a:bodyPr wrap="square" anchor="t" lIns="25400" rIns="25400" tIns="12700" bIns="12700">
            <a:spAutoFit/>
          </a:bodyPr>
          <a:lstStyle/>
          <a:p>
            <a:r>
              <a:rPr sz="1000" b="1" i="0">
                <a:solidFill>
                  <a:srgbClr val="1F558C"/>
                </a:solidFill>
                <a:latin typeface="Calibri"/>
              </a:rPr>
              <a:t>Định vị — đọc đúng cách</a:t>
            </a:r>
          </a:p>
          <a:p>
            <a:pPr>
              <a:spcBef>
                <a:spcPts val="100"/>
              </a:spcBef>
            </a:pPr>
            <a:r>
              <a:rPr sz="950" b="0" i="0">
                <a:solidFill>
                  <a:srgbClr val="1C2736"/>
                </a:solidFill>
                <a:latin typeface="Calibri"/>
              </a:rPr>
              <a:t>Gốc IoU ~0.23 vs mình pIoU ~0.27 (cùng thang 0–1) — khác data/metric, KHÔNG so trực tiếp, KHÔNG kết luận hơn/kém. pIoU có PHẠT nên khắt khe hơn.</a:t>
            </a:r>
          </a:p>
        </p:txBody>
      </p:sp>
      <p:sp>
        <p:nvSpPr>
          <p:cNvPr id="8" name="Rectangle 7"/>
          <p:cNvSpPr/>
          <p:nvPr/>
        </p:nvSpPr>
        <p:spPr>
          <a:xfrm>
            <a:off x="5623560" y="2898648"/>
            <a:ext cx="3200400" cy="1005840"/>
          </a:xfrm>
          <a:prstGeom prst="rect">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33288" y="2962656"/>
            <a:ext cx="2980944" cy="877824"/>
          </a:xfrm>
          <a:prstGeom prst="rect">
            <a:avLst/>
          </a:prstGeom>
          <a:noFill/>
        </p:spPr>
        <p:txBody>
          <a:bodyPr wrap="square" anchor="t" lIns="25400" rIns="25400" tIns="12700" bIns="12700">
            <a:spAutoFit/>
          </a:bodyPr>
          <a:lstStyle/>
          <a:p>
            <a:r>
              <a:rPr sz="1000" b="1" i="0">
                <a:solidFill>
                  <a:srgbClr val="1F558C"/>
                </a:solidFill>
                <a:latin typeface="Calibri"/>
              </a:rPr>
              <a:t>Đóng góp thật</a:t>
            </a:r>
          </a:p>
          <a:p>
            <a:pPr>
              <a:spcBef>
                <a:spcPts val="100"/>
              </a:spcBef>
            </a:pPr>
            <a:r>
              <a:rPr sz="950" b="0" i="0">
                <a:solidFill>
                  <a:srgbClr val="1C2736"/>
                </a:solidFill>
                <a:latin typeface="Calibri"/>
              </a:rPr>
              <a:t>Không phải điểm số — mà là khung đánh giá trung thực + độ tin cậy, bổ sung cho benchmark của paper.</a:t>
            </a:r>
          </a:p>
        </p:txBody>
      </p:sp>
      <p:sp>
        <p:nvSpPr>
          <p:cNvPr id="10" name="Rectangle 9"/>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12" name="TextBox 11"/>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Hướng tương lai (1): ảnh giàu hơn + đáng tin hơn</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D — [ĐO ĐƯỢC] nối số Slide 9–10 · [GIẢ ĐỊNH] suy từ thiết kế</a:t>
            </a:r>
          </a:p>
        </p:txBody>
      </p:sp>
      <p:graphicFrame>
        <p:nvGraphicFramePr>
          <p:cNvPr id="5" name="Table 4"/>
          <p:cNvGraphicFramePr>
            <a:graphicFrameLocks noGrp="1"/>
          </p:cNvGraphicFramePr>
          <p:nvPr/>
        </p:nvGraphicFramePr>
        <p:xfrm>
          <a:off x="365760" y="1435607"/>
          <a:ext cx="8412480" cy="2377440"/>
        </p:xfrm>
        <a:graphic>
          <a:graphicData uri="http://schemas.openxmlformats.org/drawingml/2006/table">
            <a:tbl>
              <a:tblPr>
                <a:tableStyleId>{5C22544A-7EE6-4342-B048-85BDC9FD1C3A}</a:tableStyleId>
              </a:tblPr>
              <a:tblGrid>
                <a:gridCol w="365760"/>
                <a:gridCol w="3108960"/>
                <a:gridCol w="3566160"/>
                <a:gridCol w="1371600"/>
              </a:tblGrid>
              <a:tr h="475488">
                <a:tc>
                  <a:txBody>
                    <a:bodyPr/>
                    <a:lstStyle/>
                    <a:p>
                      <a:r>
                        <a:rPr sz="1000" b="1" i="0">
                          <a:solidFill>
                            <a:srgbClr val="FFFFFF"/>
                          </a:solidFill>
                          <a:latin typeface="Calibri"/>
                        </a:rPr>
                        <a:t>#</a:t>
                      </a:r>
                    </a:p>
                  </a:txBody>
                  <a:tcPr marL="50800" marR="50800" marT="25400" marB="25400" anchor="ctr">
                    <a:solidFill>
                      <a:srgbClr val="1A3A5C"/>
                    </a:solidFill>
                  </a:tcPr>
                </a:tc>
                <a:tc>
                  <a:txBody>
                    <a:bodyPr/>
                    <a:lstStyle/>
                    <a:p>
                      <a:r>
                        <a:rPr sz="1000" b="1" i="0">
                          <a:solidFill>
                            <a:srgbClr val="FFFFFF"/>
                          </a:solidFill>
                          <a:latin typeface="Calibri"/>
                        </a:rPr>
                        <a:t>Hạn chế (nguồn)</a:t>
                      </a:r>
                    </a:p>
                  </a:txBody>
                  <a:tcPr marL="50800" marR="50800" marT="25400" marB="25400" anchor="ctr">
                    <a:solidFill>
                      <a:srgbClr val="1A3A5C"/>
                    </a:solidFill>
                  </a:tcPr>
                </a:tc>
                <a:tc>
                  <a:txBody>
                    <a:bodyPr/>
                    <a:lstStyle/>
                    <a:p>
                      <a:r>
                        <a:rPr sz="1000" b="1" i="0">
                          <a:solidFill>
                            <a:srgbClr val="FFFFFF"/>
                          </a:solidFill>
                          <a:latin typeface="Calibri"/>
                        </a:rPr>
                        <a:t>Hướng đi tiếp</a:t>
                      </a:r>
                    </a:p>
                  </a:txBody>
                  <a:tcPr marL="50800" marR="50800" marT="25400" marB="25400" anchor="ctr">
                    <a:solidFill>
                      <a:srgbClr val="1A3A5C"/>
                    </a:solidFill>
                  </a:tcPr>
                </a:tc>
                <a:tc>
                  <a:txBody>
                    <a:bodyPr/>
                    <a:lstStyle/>
                    <a:p>
                      <a:r>
                        <a:rPr sz="1000" b="1" i="0">
                          <a:solidFill>
                            <a:srgbClr val="FFFFFF"/>
                          </a:solidFill>
                          <a:latin typeface="Calibri"/>
                        </a:rPr>
                        <a:t>Chi phí</a:t>
                      </a:r>
                    </a:p>
                  </a:txBody>
                  <a:tcPr marL="50800" marR="50800" marT="25400" marB="25400" anchor="ctr">
                    <a:solidFill>
                      <a:srgbClr val="1A3A5C"/>
                    </a:solidFill>
                  </a:tcPr>
                </a:tc>
              </a:tr>
              <a:tr h="475488">
                <a:tc>
                  <a:txBody>
                    <a:bodyPr/>
                    <a:lstStyle/>
                    <a:p>
                      <a:r>
                        <a:rPr sz="1000" b="1" i="0">
                          <a:solidFill>
                            <a:srgbClr val="1C2736"/>
                          </a:solidFill>
                          <a:latin typeface="Calibri"/>
                        </a:rPr>
                        <a:t>①</a:t>
                      </a:r>
                    </a:p>
                  </a:txBody>
                  <a:tcPr marL="50800" marR="50800" marT="12700" marB="12700" anchor="ctr">
                    <a:solidFill>
                      <a:srgbClr val="FFFFFF"/>
                    </a:solidFill>
                  </a:tcPr>
                </a:tc>
                <a:tc>
                  <a:txBody>
                    <a:bodyPr/>
                    <a:lstStyle/>
                    <a:p>
                      <a:r>
                        <a:rPr sz="1000" b="0" i="0">
                          <a:solidFill>
                            <a:srgbClr val="1C2736"/>
                          </a:solidFill>
                          <a:latin typeface="Calibri"/>
                        </a:rPr>
                        <a:t>Sót u isointense [ĐO ĐƯỢC]</a:t>
                      </a:r>
                    </a:p>
                  </a:txBody>
                  <a:tcPr marL="50800" marR="50800" marT="12700" marB="12700" anchor="ctr">
                    <a:solidFill>
                      <a:srgbClr val="FFFFFF"/>
                    </a:solidFill>
                  </a:tcPr>
                </a:tc>
                <a:tc>
                  <a:txBody>
                    <a:bodyPr/>
                    <a:lstStyle/>
                    <a:p>
                      <a:r>
                        <a:rPr sz="1000" b="0" i="0">
                          <a:solidFill>
                            <a:srgbClr val="1C2736"/>
                          </a:solidFill>
                          <a:latin typeface="Calibri"/>
                        </a:rPr>
                        <a:t>Multi-window (cửa sổ gan hẹp)</a:t>
                      </a:r>
                    </a:p>
                  </a:txBody>
                  <a:tcPr marL="50800" marR="50800" marT="12700" marB="12700" anchor="ctr">
                    <a:solidFill>
                      <a:srgbClr val="FFFFFF"/>
                    </a:solidFill>
                  </a:tcPr>
                </a:tc>
                <a:tc>
                  <a:txBody>
                    <a:bodyPr/>
                    <a:lstStyle/>
                    <a:p>
                      <a:r>
                        <a:rPr sz="1000" b="0" i="0">
                          <a:solidFill>
                            <a:srgbClr val="1C2736"/>
                          </a:solidFill>
                          <a:latin typeface="Calibri"/>
                        </a:rPr>
                        <a:t>🟢 rất thấp</a:t>
                      </a:r>
                    </a:p>
                  </a:txBody>
                  <a:tcPr marL="50800" marR="50800" marT="12700" marB="12700" anchor="ctr">
                    <a:solidFill>
                      <a:srgbClr val="FFFFFF"/>
                    </a:solidFill>
                  </a:tcPr>
                </a:tc>
              </a:tr>
              <a:tr h="475488">
                <a:tc>
                  <a:txBody>
                    <a:bodyPr/>
                    <a:lstStyle/>
                    <a:p>
                      <a:r>
                        <a:rPr sz="1000" b="1" i="0">
                          <a:solidFill>
                            <a:srgbClr val="1C2736"/>
                          </a:solidFill>
                          <a:latin typeface="Calibri"/>
                        </a:rPr>
                        <a:t>②</a:t>
                      </a:r>
                    </a:p>
                  </a:txBody>
                  <a:tcPr marL="50800" marR="50800" marT="12700" marB="12700" anchor="ctr">
                    <a:solidFill>
                      <a:srgbClr val="E8F0F8"/>
                    </a:solidFill>
                  </a:tcPr>
                </a:tc>
                <a:tc>
                  <a:txBody>
                    <a:bodyPr/>
                    <a:lstStyle/>
                    <a:p>
                      <a:r>
                        <a:rPr sz="1000" b="0" i="0">
                          <a:solidFill>
                            <a:srgbClr val="1C2736"/>
                          </a:solidFill>
                          <a:latin typeface="Calibri"/>
                        </a:rPr>
                        <a:t>3D→2D mất thông tin [GIẢ ĐỊNH]</a:t>
                      </a:r>
                    </a:p>
                  </a:txBody>
                  <a:tcPr marL="50800" marR="50800" marT="12700" marB="12700" anchor="ctr">
                    <a:solidFill>
                      <a:srgbClr val="E8F0F8"/>
                    </a:solidFill>
                  </a:tcPr>
                </a:tc>
                <a:tc>
                  <a:txBody>
                    <a:bodyPr/>
                    <a:lstStyle/>
                    <a:p>
                      <a:r>
                        <a:rPr sz="1000" b="0" i="0">
                          <a:solidFill>
                            <a:srgbClr val="1C2736"/>
                          </a:solidFill>
                          <a:latin typeface="Calibri"/>
                        </a:rPr>
                        <a:t>2.5D stack (z−1/z/z+1 vào RGB)</a:t>
                      </a:r>
                    </a:p>
                  </a:txBody>
                  <a:tcPr marL="50800" marR="50800" marT="12700" marB="12700" anchor="ctr">
                    <a:solidFill>
                      <a:srgbClr val="E8F0F8"/>
                    </a:solidFill>
                  </a:tcPr>
                </a:tc>
                <a:tc>
                  <a:txBody>
                    <a:bodyPr/>
                    <a:lstStyle/>
                    <a:p>
                      <a:r>
                        <a:rPr sz="1000" b="0" i="0">
                          <a:solidFill>
                            <a:srgbClr val="1C2736"/>
                          </a:solidFill>
                          <a:latin typeface="Calibri"/>
                        </a:rPr>
                        <a:t>🟢 thấp</a:t>
                      </a:r>
                    </a:p>
                  </a:txBody>
                  <a:tcPr marL="50800" marR="50800" marT="12700" marB="12700" anchor="ctr">
                    <a:solidFill>
                      <a:srgbClr val="E8F0F8"/>
                    </a:solidFill>
                  </a:tcPr>
                </a:tc>
              </a:tr>
              <a:tr h="475488">
                <a:tc>
                  <a:txBody>
                    <a:bodyPr/>
                    <a:lstStyle/>
                    <a:p>
                      <a:r>
                        <a:rPr sz="1000" b="1" i="0">
                          <a:solidFill>
                            <a:srgbClr val="1C2736"/>
                          </a:solidFill>
                          <a:latin typeface="Calibri"/>
                        </a:rPr>
                        <a:t>③</a:t>
                      </a:r>
                    </a:p>
                  </a:txBody>
                  <a:tcPr marL="50800" marR="50800" marT="12700" marB="12700" anchor="ctr">
                    <a:solidFill>
                      <a:srgbClr val="FFFFFF"/>
                    </a:solidFill>
                  </a:tcPr>
                </a:tc>
                <a:tc>
                  <a:txBody>
                    <a:bodyPr/>
                    <a:lstStyle/>
                    <a:p>
                      <a:r>
                        <a:rPr sz="1000" b="0" i="0">
                          <a:solidFill>
                            <a:srgbClr val="1C2736"/>
                          </a:solidFill>
                          <a:latin typeface="Calibri"/>
                        </a:rPr>
                        <a:t>LiTS đơn pha [GIẢ ĐỊNH]</a:t>
                      </a:r>
                    </a:p>
                  </a:txBody>
                  <a:tcPr marL="50800" marR="50800" marT="12700" marB="12700" anchor="ctr">
                    <a:solidFill>
                      <a:srgbClr val="FFFFFF"/>
                    </a:solidFill>
                  </a:tcPr>
                </a:tc>
                <a:tc>
                  <a:txBody>
                    <a:bodyPr/>
                    <a:lstStyle/>
                    <a:p>
                      <a:r>
                        <a:rPr sz="1000" b="0" i="0">
                          <a:solidFill>
                            <a:srgbClr val="1C2736"/>
                          </a:solidFill>
                          <a:latin typeface="Calibri"/>
                        </a:rPr>
                        <a:t>CT đa pha — trần của DỮ LIỆU</a:t>
                      </a:r>
                    </a:p>
                  </a:txBody>
                  <a:tcPr marL="50800" marR="50800" marT="12700" marB="12700" anchor="ctr">
                    <a:solidFill>
                      <a:srgbClr val="FFFFFF"/>
                    </a:solidFill>
                  </a:tcPr>
                </a:tc>
                <a:tc>
                  <a:txBody>
                    <a:bodyPr/>
                    <a:lstStyle/>
                    <a:p>
                      <a:r>
                        <a:rPr sz="1000" b="0" i="0">
                          <a:solidFill>
                            <a:srgbClr val="1C2736"/>
                          </a:solidFill>
                          <a:latin typeface="Calibri"/>
                        </a:rPr>
                        <a:t>🔴 cần data</a:t>
                      </a:r>
                    </a:p>
                  </a:txBody>
                  <a:tcPr marL="50800" marR="50800" marT="12700" marB="12700" anchor="ctr">
                    <a:solidFill>
                      <a:srgbClr val="FFFFFF"/>
                    </a:solidFill>
                  </a:tcPr>
                </a:tc>
              </a:tr>
              <a:tr h="475488">
                <a:tc>
                  <a:txBody>
                    <a:bodyPr/>
                    <a:lstStyle/>
                    <a:p>
                      <a:r>
                        <a:rPr sz="1000" b="1" i="0">
                          <a:solidFill>
                            <a:srgbClr val="1C2736"/>
                          </a:solidFill>
                          <a:latin typeface="Calibri"/>
                        </a:rPr>
                        <a:t>⑤</a:t>
                      </a:r>
                    </a:p>
                  </a:txBody>
                  <a:tcPr marL="50800" marR="50800" marT="12700" marB="12700" anchor="ctr">
                    <a:solidFill>
                      <a:srgbClr val="E8F0F8"/>
                    </a:solidFill>
                  </a:tcPr>
                </a:tc>
                <a:tc>
                  <a:txBody>
                    <a:bodyPr/>
                    <a:lstStyle/>
                    <a:p>
                      <a:r>
                        <a:rPr sz="1000" b="0" i="0">
                          <a:solidFill>
                            <a:srgbClr val="1C2736"/>
                          </a:solidFill>
                          <a:latin typeface="Calibri"/>
                        </a:rPr>
                        <a:t>2 ca âm, 1 dataset [ĐO ĐƯỢC]</a:t>
                      </a:r>
                    </a:p>
                  </a:txBody>
                  <a:tcPr marL="50800" marR="50800" marT="12700" marB="12700" anchor="ctr">
                    <a:solidFill>
                      <a:srgbClr val="E8F0F8"/>
                    </a:solidFill>
                  </a:tcPr>
                </a:tc>
                <a:tc>
                  <a:txBody>
                    <a:bodyPr/>
                    <a:lstStyle/>
                    <a:p>
                      <a:r>
                        <a:rPr sz="1000" b="0" i="0">
                          <a:solidFill>
                            <a:srgbClr val="1C2736"/>
                          </a:solidFill>
                          <a:latin typeface="Calibri"/>
                        </a:rPr>
                        <a:t>External validation + FROC + calibration</a:t>
                      </a:r>
                    </a:p>
                  </a:txBody>
                  <a:tcPr marL="50800" marR="50800" marT="12700" marB="12700" anchor="ctr">
                    <a:solidFill>
                      <a:srgbClr val="E8F0F8"/>
                    </a:solidFill>
                  </a:tcPr>
                </a:tc>
                <a:tc>
                  <a:txBody>
                    <a:bodyPr/>
                    <a:lstStyle/>
                    <a:p>
                      <a:r>
                        <a:rPr sz="1000" b="0" i="0">
                          <a:solidFill>
                            <a:srgbClr val="1C2736"/>
                          </a:solidFill>
                          <a:latin typeface="Calibri"/>
                        </a:rPr>
                        <a:t>🟡 inference</a:t>
                      </a:r>
                    </a:p>
                  </a:txBody>
                  <a:tcPr marL="50800" marR="50800" marT="12700" marB="12700" anchor="ctr">
                    <a:solidFill>
                      <a:srgbClr val="E8F0F8"/>
                    </a:solidFill>
                  </a:tcPr>
                </a:tc>
              </a:tr>
            </a:tbl>
          </a:graphicData>
        </a:graphic>
      </p:graphicFrame>
      <p:sp>
        <p:nvSpPr>
          <p:cNvPr id="6" name="Rectangle 5"/>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8" name="TextBox 7"/>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Hướng tương lai (2): nói-có-dẫn-chứng · generalist</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D — [ĐO ĐƯỢC] · [THÍ NGHIỆM HỎNG] · [GIẢ ĐỊNH]</a:t>
            </a:r>
          </a:p>
        </p:txBody>
      </p:sp>
      <p:graphicFrame>
        <p:nvGraphicFramePr>
          <p:cNvPr id="5" name="Table 4"/>
          <p:cNvGraphicFramePr>
            <a:graphicFrameLocks noGrp="1"/>
          </p:cNvGraphicFramePr>
          <p:nvPr/>
        </p:nvGraphicFramePr>
        <p:xfrm>
          <a:off x="365760" y="1435607"/>
          <a:ext cx="8412479" cy="2377440"/>
        </p:xfrm>
        <a:graphic>
          <a:graphicData uri="http://schemas.openxmlformats.org/drawingml/2006/table">
            <a:tbl>
              <a:tblPr>
                <a:tableStyleId>{5C22544A-7EE6-4342-B048-85BDC9FD1C3A}</a:tableStyleId>
              </a:tblPr>
              <a:tblGrid>
                <a:gridCol w="365760"/>
                <a:gridCol w="2926080"/>
                <a:gridCol w="3749039"/>
                <a:gridCol w="1371600"/>
              </a:tblGrid>
              <a:tr h="475488">
                <a:tc>
                  <a:txBody>
                    <a:bodyPr/>
                    <a:lstStyle/>
                    <a:p>
                      <a:r>
                        <a:rPr sz="1000" b="1" i="0">
                          <a:solidFill>
                            <a:srgbClr val="FFFFFF"/>
                          </a:solidFill>
                          <a:latin typeface="Calibri"/>
                        </a:rPr>
                        <a:t>#</a:t>
                      </a:r>
                    </a:p>
                  </a:txBody>
                  <a:tcPr marL="50800" marR="50800" marT="25400" marB="25400" anchor="ctr">
                    <a:solidFill>
                      <a:srgbClr val="1A3A5C"/>
                    </a:solidFill>
                  </a:tcPr>
                </a:tc>
                <a:tc>
                  <a:txBody>
                    <a:bodyPr/>
                    <a:lstStyle/>
                    <a:p>
                      <a:r>
                        <a:rPr sz="1000" b="1" i="0">
                          <a:solidFill>
                            <a:srgbClr val="FFFFFF"/>
                          </a:solidFill>
                          <a:latin typeface="Calibri"/>
                        </a:rPr>
                        <a:t>Hạn chế (nguồn)</a:t>
                      </a:r>
                    </a:p>
                  </a:txBody>
                  <a:tcPr marL="50800" marR="50800" marT="25400" marB="25400" anchor="ctr">
                    <a:solidFill>
                      <a:srgbClr val="1A3A5C"/>
                    </a:solidFill>
                  </a:tcPr>
                </a:tc>
                <a:tc>
                  <a:txBody>
                    <a:bodyPr/>
                    <a:lstStyle/>
                    <a:p>
                      <a:r>
                        <a:rPr sz="1000" b="1" i="0">
                          <a:solidFill>
                            <a:srgbClr val="FFFFFF"/>
                          </a:solidFill>
                          <a:latin typeface="Calibri"/>
                        </a:rPr>
                        <a:t>Hướng đi tiếp</a:t>
                      </a:r>
                    </a:p>
                  </a:txBody>
                  <a:tcPr marL="50800" marR="50800" marT="25400" marB="25400" anchor="ctr">
                    <a:solidFill>
                      <a:srgbClr val="1A3A5C"/>
                    </a:solidFill>
                  </a:tcPr>
                </a:tc>
                <a:tc>
                  <a:txBody>
                    <a:bodyPr/>
                    <a:lstStyle/>
                    <a:p>
                      <a:r>
                        <a:rPr sz="1000" b="1" i="0">
                          <a:solidFill>
                            <a:srgbClr val="FFFFFF"/>
                          </a:solidFill>
                          <a:latin typeface="Calibri"/>
                        </a:rPr>
                        <a:t>Chi phí</a:t>
                      </a:r>
                    </a:p>
                  </a:txBody>
                  <a:tcPr marL="50800" marR="50800" marT="25400" marB="25400" anchor="ctr">
                    <a:solidFill>
                      <a:srgbClr val="1A3A5C"/>
                    </a:solidFill>
                  </a:tcPr>
                </a:tc>
              </a:tr>
              <a:tr h="475488">
                <a:tc>
                  <a:txBody>
                    <a:bodyPr/>
                    <a:lstStyle/>
                    <a:p>
                      <a:r>
                        <a:rPr sz="1000" b="1" i="0">
                          <a:solidFill>
                            <a:srgbClr val="1C2736"/>
                          </a:solidFill>
                          <a:latin typeface="Calibri"/>
                        </a:rPr>
                        <a:t>④</a:t>
                      </a:r>
                    </a:p>
                  </a:txBody>
                  <a:tcPr marL="50800" marR="50800" marT="12700" marB="12700" anchor="ctr">
                    <a:solidFill>
                      <a:srgbClr val="FFFFFF"/>
                    </a:solidFill>
                  </a:tcPr>
                </a:tc>
                <a:tc>
                  <a:txBody>
                    <a:bodyPr/>
                    <a:lstStyle/>
                    <a:p>
                      <a:r>
                        <a:rPr sz="1000" b="0" i="0">
                          <a:solidFill>
                            <a:srgbClr val="1C2736"/>
                          </a:solidFill>
                          <a:latin typeface="Calibri"/>
                        </a:rPr>
                        <a:t>pIoU chỉ 0.27 [ĐO ĐƯỢC]</a:t>
                      </a:r>
                    </a:p>
                  </a:txBody>
                  <a:tcPr marL="50800" marR="50800" marT="12700" marB="12700" anchor="ctr">
                    <a:solidFill>
                      <a:srgbClr val="FFFFFF"/>
                    </a:solidFill>
                  </a:tcPr>
                </a:tc>
                <a:tc>
                  <a:txBody>
                    <a:bodyPr/>
                    <a:lstStyle/>
                    <a:p>
                      <a:r>
                        <a:rPr sz="1000" b="0" i="0">
                          <a:solidFill>
                            <a:srgbClr val="1C2736"/>
                          </a:solidFill>
                          <a:latin typeface="Calibri"/>
                        </a:rPr>
                        <a:t>MedSAM khoanh khít + polygon-as-token</a:t>
                      </a:r>
                    </a:p>
                  </a:txBody>
                  <a:tcPr marL="50800" marR="50800" marT="12700" marB="12700" anchor="ctr">
                    <a:solidFill>
                      <a:srgbClr val="FFFFFF"/>
                    </a:solidFill>
                  </a:tcPr>
                </a:tc>
                <a:tc>
                  <a:txBody>
                    <a:bodyPr/>
                    <a:lstStyle/>
                    <a:p>
                      <a:r>
                        <a:rPr sz="1000" b="0" i="0">
                          <a:solidFill>
                            <a:srgbClr val="1C2736"/>
                          </a:solidFill>
                          <a:latin typeface="Calibri"/>
                        </a:rPr>
                        <a:t>🟡 vừa</a:t>
                      </a:r>
                    </a:p>
                  </a:txBody>
                  <a:tcPr marL="50800" marR="50800" marT="12700" marB="12700" anchor="ctr">
                    <a:solidFill>
                      <a:srgbClr val="FFFFFF"/>
                    </a:solidFill>
                  </a:tcPr>
                </a:tc>
              </a:tr>
              <a:tr h="475488">
                <a:tc>
                  <a:txBody>
                    <a:bodyPr/>
                    <a:lstStyle/>
                    <a:p>
                      <a:r>
                        <a:rPr sz="1000" b="1" i="0">
                          <a:solidFill>
                            <a:srgbClr val="1C2736"/>
                          </a:solidFill>
                          <a:latin typeface="Calibri"/>
                        </a:rPr>
                        <a:t>⑥</a:t>
                      </a:r>
                    </a:p>
                  </a:txBody>
                  <a:tcPr marL="50800" marR="50800" marT="12700" marB="12700" anchor="ctr">
                    <a:solidFill>
                      <a:srgbClr val="E8F0F8"/>
                    </a:solidFill>
                  </a:tcPr>
                </a:tc>
                <a:tc>
                  <a:txBody>
                    <a:bodyPr/>
                    <a:lstStyle/>
                    <a:p>
                      <a:r>
                        <a:rPr sz="1000" b="0" i="0">
                          <a:solidFill>
                            <a:srgbClr val="1C2736"/>
                          </a:solidFill>
                          <a:latin typeface="Calibri"/>
                        </a:rPr>
                        <a:t>Chỉ detect [PHẠM VI]</a:t>
                      </a:r>
                    </a:p>
                  </a:txBody>
                  <a:tcPr marL="50800" marR="50800" marT="12700" marB="12700" anchor="ctr">
                    <a:solidFill>
                      <a:srgbClr val="E8F0F8"/>
                    </a:solidFill>
                  </a:tcPr>
                </a:tc>
                <a:tc>
                  <a:txBody>
                    <a:bodyPr/>
                    <a:lstStyle/>
                    <a:p>
                      <a:r>
                        <a:rPr sz="1000" b="0" i="0">
                          <a:solidFill>
                            <a:srgbClr val="1C2736"/>
                          </a:solidFill>
                          <a:latin typeface="Calibri"/>
                        </a:rPr>
                        <a:t>Grounded report (mỗi câu neo 1 box)</a:t>
                      </a:r>
                    </a:p>
                  </a:txBody>
                  <a:tcPr marL="50800" marR="50800" marT="12700" marB="12700" anchor="ctr">
                    <a:solidFill>
                      <a:srgbClr val="E8F0F8"/>
                    </a:solidFill>
                  </a:tcPr>
                </a:tc>
                <a:tc>
                  <a:txBody>
                    <a:bodyPr/>
                    <a:lstStyle/>
                    <a:p>
                      <a:r>
                        <a:rPr sz="1000" b="0" i="0">
                          <a:solidFill>
                            <a:srgbClr val="1C2736"/>
                          </a:solidFill>
                          <a:latin typeface="Calibri"/>
                        </a:rPr>
                        <a:t>🟡 vừa</a:t>
                      </a:r>
                    </a:p>
                  </a:txBody>
                  <a:tcPr marL="50800" marR="50800" marT="12700" marB="12700" anchor="ctr">
                    <a:solidFill>
                      <a:srgbClr val="E8F0F8"/>
                    </a:solidFill>
                  </a:tcPr>
                </a:tc>
              </a:tr>
              <a:tr h="475488">
                <a:tc>
                  <a:txBody>
                    <a:bodyPr/>
                    <a:lstStyle/>
                    <a:p>
                      <a:r>
                        <a:rPr sz="1000" b="1" i="0">
                          <a:solidFill>
                            <a:srgbClr val="1C2736"/>
                          </a:solidFill>
                          <a:latin typeface="Calibri"/>
                        </a:rPr>
                        <a:t>⑦</a:t>
                      </a:r>
                    </a:p>
                  </a:txBody>
                  <a:tcPr marL="50800" marR="50800" marT="12700" marB="12700" anchor="ctr">
                    <a:solidFill>
                      <a:srgbClr val="FFFFFF"/>
                    </a:solidFill>
                  </a:tcPr>
                </a:tc>
                <a:tc>
                  <a:txBody>
                    <a:bodyPr/>
                    <a:lstStyle/>
                    <a:p>
                      <a:r>
                        <a:rPr sz="1000" b="0" i="0">
                          <a:solidFill>
                            <a:srgbClr val="1C2736"/>
                          </a:solidFill>
                          <a:latin typeface="Calibri"/>
                        </a:rPr>
                        <a:t>Chỉ u gan [GIẢ ĐỊNH]</a:t>
                      </a:r>
                    </a:p>
                  </a:txBody>
                  <a:tcPr marL="50800" marR="50800" marT="12700" marB="12700" anchor="ctr">
                    <a:solidFill>
                      <a:srgbClr val="FFFFFF"/>
                    </a:solidFill>
                  </a:tcPr>
                </a:tc>
                <a:tc>
                  <a:txBody>
                    <a:bodyPr/>
                    <a:lstStyle/>
                    <a:p>
                      <a:r>
                        <a:rPr sz="1000" b="0" i="0">
                          <a:solidFill>
                            <a:srgbClr val="1C2736"/>
                          </a:solidFill>
                          <a:latin typeface="Calibri"/>
                        </a:rPr>
                        <a:t>Generalist đa cơ quan</a:t>
                      </a:r>
                    </a:p>
                  </a:txBody>
                  <a:tcPr marL="50800" marR="50800" marT="12700" marB="12700" anchor="ctr">
                    <a:solidFill>
                      <a:srgbClr val="FFFFFF"/>
                    </a:solidFill>
                  </a:tcPr>
                </a:tc>
                <a:tc>
                  <a:txBody>
                    <a:bodyPr/>
                    <a:lstStyle/>
                    <a:p>
                      <a:r>
                        <a:rPr sz="1000" b="0" i="0">
                          <a:solidFill>
                            <a:srgbClr val="1C2736"/>
                          </a:solidFill>
                          <a:latin typeface="Calibri"/>
                        </a:rPr>
                        <a:t>🔴 dài hạn</a:t>
                      </a:r>
                    </a:p>
                  </a:txBody>
                  <a:tcPr marL="50800" marR="50800" marT="12700" marB="12700" anchor="ctr">
                    <a:solidFill>
                      <a:srgbClr val="FFFFFF"/>
                    </a:solidFill>
                  </a:tcPr>
                </a:tc>
              </a:tr>
              <a:tr h="475488">
                <a:tc>
                  <a:txBody>
                    <a:bodyPr/>
                    <a:lstStyle/>
                    <a:p>
                      <a:r>
                        <a:rPr sz="1000" b="1" i="0">
                          <a:solidFill>
                            <a:srgbClr val="1C2736"/>
                          </a:solidFill>
                          <a:latin typeface="Calibri"/>
                        </a:rPr>
                        <a:t>⑧</a:t>
                      </a:r>
                    </a:p>
                  </a:txBody>
                  <a:tcPr marL="50800" marR="50800" marT="12700" marB="12700" anchor="ctr">
                    <a:solidFill>
                      <a:srgbClr val="E8F0F8"/>
                    </a:solidFill>
                  </a:tcPr>
                </a:tc>
                <a:tc>
                  <a:txBody>
                    <a:bodyPr/>
                    <a:lstStyle/>
                    <a:p>
                      <a:r>
                        <a:rPr sz="1000" b="0" i="0">
                          <a:solidFill>
                            <a:srgbClr val="1C2736"/>
                          </a:solidFill>
                          <a:latin typeface="Calibri"/>
                        </a:rPr>
                        <a:t>BCE-head fail [HỎNG]</a:t>
                      </a:r>
                    </a:p>
                  </a:txBody>
                  <a:tcPr marL="50800" marR="50800" marT="12700" marB="12700" anchor="ctr">
                    <a:solidFill>
                      <a:srgbClr val="E8F0F8"/>
                    </a:solidFill>
                  </a:tcPr>
                </a:tc>
                <a:tc>
                  <a:txBody>
                    <a:bodyPr/>
                    <a:lstStyle/>
                    <a:p>
                      <a:r>
                        <a:rPr sz="1000" b="0" i="0">
                          <a:solidFill>
                            <a:srgbClr val="1C2736"/>
                          </a:solidFill>
                          <a:latin typeface="Calibri"/>
                        </a:rPr>
                        <a:t>Cân bằng loss (uncertainty weighting + GIoU)</a:t>
                      </a:r>
                    </a:p>
                  </a:txBody>
                  <a:tcPr marL="50800" marR="50800" marT="12700" marB="12700" anchor="ctr">
                    <a:solidFill>
                      <a:srgbClr val="E8F0F8"/>
                    </a:solidFill>
                  </a:tcPr>
                </a:tc>
                <a:tc>
                  <a:txBody>
                    <a:bodyPr/>
                    <a:lstStyle/>
                    <a:p>
                      <a:r>
                        <a:rPr sz="1000" b="0" i="0">
                          <a:solidFill>
                            <a:srgbClr val="1C2736"/>
                          </a:solidFill>
                          <a:latin typeface="Calibri"/>
                        </a:rPr>
                        <a:t>🟢 thấp</a:t>
                      </a:r>
                    </a:p>
                  </a:txBody>
                  <a:tcPr marL="50800" marR="50800" marT="12700" marB="12700" anchor="ctr">
                    <a:solidFill>
                      <a:srgbClr val="E8F0F8"/>
                    </a:solidFill>
                  </a:tcPr>
                </a:tc>
              </a:tr>
            </a:tbl>
          </a:graphicData>
        </a:graphic>
      </p:graphicFrame>
      <p:sp>
        <p:nvSpPr>
          <p:cNvPr id="6" name="Rectangle 5"/>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8" name="TextBox 7"/>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A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09728"/>
            <a:ext cx="8503920" cy="548640"/>
          </a:xfrm>
          <a:prstGeom prst="rect">
            <a:avLst/>
          </a:prstGeom>
          <a:noFill/>
        </p:spPr>
        <p:txBody>
          <a:bodyPr wrap="square" anchor="t" lIns="25400" rIns="25400" tIns="12700" bIns="12700">
            <a:spAutoFit/>
          </a:bodyPr>
          <a:lstStyle/>
          <a:p>
            <a:r>
              <a:rPr sz="2000" b="1" i="0">
                <a:solidFill>
                  <a:srgbClr val="FFFFFF"/>
                </a:solidFill>
                <a:latin typeface="Cambria"/>
              </a:rPr>
              <a:t>Kết luận</a:t>
            </a:r>
          </a:p>
        </p:txBody>
      </p:sp>
      <p:sp>
        <p:nvSpPr>
          <p:cNvPr id="4" name="TextBox 3"/>
          <p:cNvSpPr txBox="1"/>
          <p:nvPr/>
        </p:nvSpPr>
        <p:spPr>
          <a:xfrm>
            <a:off x="338328" y="676656"/>
            <a:ext cx="8412480" cy="411480"/>
          </a:xfrm>
          <a:prstGeom prst="rect">
            <a:avLst/>
          </a:prstGeom>
          <a:noFill/>
        </p:spPr>
        <p:txBody>
          <a:bodyPr wrap="square" anchor="t" lIns="25400" rIns="25400" tIns="12700" bIns="12700">
            <a:spAutoFit/>
          </a:bodyPr>
          <a:lstStyle/>
          <a:p>
            <a:r>
              <a:rPr sz="1100" b="0" i="1">
                <a:solidFill>
                  <a:srgbClr val="B8CFE0"/>
                </a:solidFill>
                <a:latin typeface="Calibri"/>
              </a:rPr>
              <a:t>Phần D</a:t>
            </a:r>
          </a:p>
        </p:txBody>
      </p:sp>
      <p:sp>
        <p:nvSpPr>
          <p:cNvPr id="5" name="TextBox 4"/>
          <p:cNvSpPr txBox="1"/>
          <p:nvPr/>
        </p:nvSpPr>
        <p:spPr>
          <a:xfrm>
            <a:off x="365760" y="1298448"/>
            <a:ext cx="8412480" cy="2926080"/>
          </a:xfrm>
          <a:prstGeom prst="rect">
            <a:avLst/>
          </a:prstGeom>
          <a:noFill/>
        </p:spPr>
        <p:txBody>
          <a:bodyPr wrap="square" anchor="t" lIns="25400" rIns="25400" tIns="12700" bIns="12700">
            <a:spAutoFit/>
          </a:bodyPr>
          <a:lstStyle/>
          <a:p>
            <a:pPr>
              <a:spcBef>
                <a:spcPts val="0"/>
              </a:spcBef>
              <a:spcAft>
                <a:spcPts val="600"/>
              </a:spcAft>
            </a:pPr>
            <a:r>
              <a:rPr sz="1250" b="1" i="0">
                <a:solidFill>
                  <a:srgbClr val="1A3A5C"/>
                </a:solidFill>
                <a:latin typeface="Calibri"/>
              </a:rPr>
              <a:t>▪  </a:t>
            </a:r>
            <a:r>
              <a:rPr sz="1250" b="1" i="0">
                <a:solidFill>
                  <a:srgbClr val="1C2736"/>
                </a:solidFill>
                <a:latin typeface="Calibri"/>
              </a:rPr>
              <a:t>Chứng minh một cơ chế:</a:t>
            </a:r>
            <a:r>
              <a:rPr sz="1250" b="0" i="0">
                <a:solidFill>
                  <a:srgbClr val="1C2736"/>
                </a:solidFill>
                <a:latin typeface="Calibri"/>
              </a:rPr>
              <a:t> region-centric (khoanh-rồi-đọc) </a:t>
            </a:r>
            <a:r>
              <a:rPr sz="1250" b="1" i="0">
                <a:solidFill>
                  <a:srgbClr val="1C2736"/>
                </a:solidFill>
                <a:latin typeface="Calibri"/>
              </a:rPr>
              <a:t>khả thi ở ~8B, 1 GPU</a:t>
            </a:r>
            <a:r>
              <a:rPr sz="1250" b="0" i="0">
                <a:solidFill>
                  <a:srgbClr val="1C2736"/>
                </a:solidFill>
                <a:latin typeface="Calibri"/>
              </a:rPr>
              <a:t>.</a:t>
            </a:r>
          </a:p>
          <a:p>
            <a:pPr>
              <a:spcBef>
                <a:spcPts val="0"/>
              </a:spcBef>
              <a:spcAft>
                <a:spcPts val="600"/>
              </a:spcAft>
            </a:pPr>
            <a:r>
              <a:rPr sz="1250" b="1" i="0">
                <a:solidFill>
                  <a:srgbClr val="1A3A5C"/>
                </a:solidFill>
                <a:latin typeface="Calibri"/>
              </a:rPr>
              <a:t>▪  </a:t>
            </a:r>
            <a:r>
              <a:rPr sz="1250" b="1" i="0">
                <a:solidFill>
                  <a:srgbClr val="1C2736"/>
                </a:solidFill>
                <a:latin typeface="Calibri"/>
              </a:rPr>
              <a:t>Đóng góp cốt lõi (v3):</a:t>
            </a:r>
            <a:r>
              <a:rPr sz="1250" b="0" i="0">
                <a:solidFill>
                  <a:srgbClr val="1C2736"/>
                </a:solidFill>
                <a:latin typeface="Calibri"/>
              </a:rPr>
              <a:t> Detection F1 </a:t>
            </a:r>
            <a:r>
              <a:rPr sz="1250" b="1" i="0">
                <a:solidFill>
                  <a:srgbClr val="1C2736"/>
                </a:solidFill>
                <a:latin typeface="Calibri"/>
              </a:rPr>
              <a:t>0.89</a:t>
            </a:r>
            <a:r>
              <a:rPr sz="1250" b="0" i="0">
                <a:solidFill>
                  <a:srgbClr val="1C2736"/>
                </a:solidFill>
                <a:latin typeface="Calibri"/>
              </a:rPr>
              <a:t> · pIoU </a:t>
            </a:r>
            <a:r>
              <a:rPr sz="1250" b="1" i="0">
                <a:solidFill>
                  <a:srgbClr val="1C2736"/>
                </a:solidFill>
                <a:latin typeface="Calibri"/>
              </a:rPr>
              <a:t>0.27</a:t>
            </a:r>
            <a:r>
              <a:rPr sz="1250" b="0" i="0">
                <a:solidFill>
                  <a:srgbClr val="1C2736"/>
                </a:solidFill>
                <a:latin typeface="Calibri"/>
              </a:rPr>
              <a:t> · FP </a:t>
            </a:r>
            <a:r>
              <a:rPr sz="1250" b="1" i="0">
                <a:solidFill>
                  <a:srgbClr val="1C2736"/>
                </a:solidFill>
                <a:latin typeface="Calibri"/>
              </a:rPr>
              <a:t>1.5%</a:t>
            </a:r>
            <a:r>
              <a:rPr sz="1250" b="0" i="0">
                <a:solidFill>
                  <a:srgbClr val="1C2736"/>
                </a:solidFill>
                <a:latin typeface="Calibri"/>
              </a:rPr>
              <a:t> — nhưng giá trị nằm ở </a:t>
            </a:r>
            <a:r>
              <a:rPr sz="1250" b="1" i="0">
                <a:solidFill>
                  <a:srgbClr val="1C2736"/>
                </a:solidFill>
                <a:latin typeface="Calibri"/>
              </a:rPr>
              <a:t>khung đánh giá trung thực + selective prediction</a:t>
            </a:r>
            <a:r>
              <a:rPr sz="1250" b="0" i="0">
                <a:solidFill>
                  <a:srgbClr val="1C2736"/>
                </a:solidFill>
                <a:latin typeface="Calibri"/>
              </a:rPr>
              <a:t>, không phải điểm số.</a:t>
            </a:r>
          </a:p>
          <a:p>
            <a:pPr>
              <a:spcBef>
                <a:spcPts val="0"/>
              </a:spcBef>
              <a:spcAft>
                <a:spcPts val="600"/>
              </a:spcAft>
            </a:pPr>
            <a:r>
              <a:rPr sz="1250" b="1" i="0">
                <a:solidFill>
                  <a:srgbClr val="1A3A5C"/>
                </a:solidFill>
                <a:latin typeface="Calibri"/>
              </a:rPr>
              <a:t>▪  </a:t>
            </a:r>
            <a:r>
              <a:rPr sz="1250" b="1" i="0">
                <a:solidFill>
                  <a:srgbClr val="1C2736"/>
                </a:solidFill>
                <a:latin typeface="Calibri"/>
              </a:rPr>
              <a:t>Trung thực:</a:t>
            </a:r>
            <a:r>
              <a:rPr sz="1250" b="0" i="0">
                <a:solidFill>
                  <a:srgbClr val="1C2736"/>
                </a:solidFill>
                <a:latin typeface="Calibri"/>
              </a:rPr>
              <a:t> PoC trên 1 dataset/1 task; n nhỏ, CI rộng; không tuyên bố hệ thống lâm sàng.</a:t>
            </a:r>
          </a:p>
          <a:p>
            <a:pPr>
              <a:spcBef>
                <a:spcPts val="0"/>
              </a:spcBef>
              <a:spcAft>
                <a:spcPts val="600"/>
              </a:spcAft>
            </a:pPr>
            <a:r>
              <a:rPr sz="1250" b="1" i="0">
                <a:solidFill>
                  <a:srgbClr val="1A3A5C"/>
                </a:solidFill>
                <a:latin typeface="Calibri"/>
              </a:rPr>
              <a:t>▪  </a:t>
            </a:r>
            <a:r>
              <a:rPr sz="1250" b="1" i="0">
                <a:solidFill>
                  <a:srgbClr val="1C2736"/>
                </a:solidFill>
                <a:latin typeface="Calibri"/>
              </a:rPr>
              <a:t>Bản đồ mở rộng:</a:t>
            </a:r>
            <a:r>
              <a:rPr sz="1250" b="0" i="0">
                <a:solidFill>
                  <a:srgbClr val="1C2736"/>
                </a:solidFill>
                <a:latin typeface="Calibri"/>
              </a:rPr>
              <a:t> ảnh giàu hơn → đáng tin hơn → nói-có-dẫn-chứng &amp; generalist.</a:t>
            </a:r>
          </a:p>
        </p:txBody>
      </p:sp>
      <p:sp>
        <p:nvSpPr>
          <p:cNvPr id="6" name="Rectangle 5"/>
          <p:cNvSpPr/>
          <p:nvPr/>
        </p:nvSpPr>
        <p:spPr>
          <a:xfrm>
            <a:off x="365760" y="4087368"/>
            <a:ext cx="8412480" cy="548640"/>
          </a:xfrm>
          <a:prstGeom prst="rect">
            <a:avLst/>
          </a:prstGeom>
          <a:solidFill>
            <a:srgbClr val="E8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4151376"/>
            <a:ext cx="8193023" cy="420623"/>
          </a:xfrm>
          <a:prstGeom prst="rect">
            <a:avLst/>
          </a:prstGeom>
          <a:noFill/>
        </p:spPr>
        <p:txBody>
          <a:bodyPr wrap="square" anchor="t" lIns="25400" rIns="25400" tIns="12700" bIns="12700">
            <a:spAutoFit/>
          </a:bodyPr>
          <a:lstStyle/>
          <a:p>
            <a:r>
              <a:rPr sz="1000" b="1" i="0">
                <a:solidFill>
                  <a:srgbClr val="1F558C"/>
                </a:solidFill>
                <a:latin typeface="Calibri"/>
              </a:rPr>
              <a:t>Câu chốt</a:t>
            </a:r>
          </a:p>
          <a:p>
            <a:pPr>
              <a:spcBef>
                <a:spcPts val="100"/>
              </a:spcBef>
            </a:pPr>
            <a:r>
              <a:rPr sz="950" b="0" i="0">
                <a:solidFill>
                  <a:srgbClr val="1C2736"/>
                </a:solidFill>
                <a:latin typeface="Calibri"/>
              </a:rPr>
              <a:t>Chúng em không hứa đã tới đích — chỉ ra con đường và nói rõ chỗ nào còn dốc.</a:t>
            </a:r>
          </a:p>
        </p:txBody>
      </p:sp>
      <p:sp>
        <p:nvSpPr>
          <p:cNvPr id="8" name="Rectangle 7"/>
          <p:cNvSpPr/>
          <p:nvPr/>
        </p:nvSpPr>
        <p:spPr>
          <a:xfrm>
            <a:off x="0" y="4882896"/>
            <a:ext cx="9144000" cy="265176"/>
          </a:xfrm>
          <a:prstGeom prst="rect">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4937760"/>
            <a:ext cx="5943600" cy="164592"/>
          </a:xfrm>
          <a:prstGeom prst="rect">
            <a:avLst/>
          </a:prstGeom>
          <a:noFill/>
        </p:spPr>
        <p:txBody>
          <a:bodyPr wrap="square" anchor="t" lIns="25400" rIns="25400" tIns="12700" bIns="12700">
            <a:spAutoFit/>
          </a:bodyPr>
          <a:lstStyle/>
          <a:p>
            <a:r>
              <a:rPr sz="850" b="0" i="0">
                <a:solidFill>
                  <a:srgbClr val="6B7F95"/>
                </a:solidFill>
                <a:latin typeface="Calibri"/>
              </a:rPr>
              <a:t>Cải tiến MedRegA · Gemma 4 E4B (u gan LiTS) · Seminar Học sâu</a:t>
            </a:r>
          </a:p>
        </p:txBody>
      </p:sp>
      <p:sp>
        <p:nvSpPr>
          <p:cNvPr id="10" name="TextBox 9"/>
          <p:cNvSpPr txBox="1"/>
          <p:nvPr/>
        </p:nvSpPr>
        <p:spPr>
          <a:xfrm>
            <a:off x="8229600" y="4937760"/>
            <a:ext cx="731520" cy="164592"/>
          </a:xfrm>
          <a:prstGeom prst="rect">
            <a:avLst/>
          </a:prstGeom>
          <a:noFill/>
        </p:spPr>
        <p:txBody>
          <a:bodyPr wrap="square" anchor="t" lIns="25400" rIns="25400" tIns="12700" bIns="12700">
            <a:spAutoFit/>
          </a:bodyPr>
          <a:lstStyle/>
          <a:p>
            <a:pPr algn="r"/>
            <a:r>
              <a:rPr sz="900" b="0" i="0">
                <a:solidFill>
                  <a:srgbClr val="5A5A5A"/>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