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21945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17320"/>
            <a:ext cx="9144000" cy="2103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72768"/>
            <a:ext cx="822960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mbria"/>
              </a:rPr>
              <a:t>Cải tiến của nhóm trên MedRegA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78608"/>
            <a:ext cx="82296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500" b="0" i="0">
                <a:solidFill>
                  <a:srgbClr val="B8CFE0"/>
                </a:solidFill>
                <a:latin typeface="Calibri"/>
              </a:rPr>
              <a:t>Fine-tune Gemma 4 E4B phát hiện u gan trên CT (LiTS)</a:t>
            </a:r>
          </a:p>
          <a:p>
            <a:pPr algn="ctr"/>
            <a:r>
              <a:rPr sz="1500" b="0" i="0">
                <a:solidFill>
                  <a:srgbClr val="B8CFE0"/>
                </a:solidFill>
                <a:latin typeface="Calibri"/>
              </a:rPr>
              <a:t>Mô hình nhỏ — trung thực về đánh giá &amp; độ tin cậy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4937760"/>
            <a:ext cx="82296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00" b="0" i="0">
                <a:solidFill>
                  <a:srgbClr val="6B7F95"/>
                </a:solidFill>
                <a:latin typeface="Calibri"/>
              </a:rPr>
              <a:t>Seminar Học sâu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8696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Kiến trúc &amp; cách làm của nhóm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24127"/>
            <a:ext cx="5120640" cy="3291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1C2736"/>
                </a:solidFill>
                <a:latin typeface="Calibri"/>
              </a:rPr>
              <a:t>Backbone: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 Gemma 4 E4B (~8B) — nhỏ hơn MedRegA (~40B) 5×, chạy </a:t>
            </a:r>
            <a:r>
              <a:rPr sz="1350" b="1" i="0">
                <a:solidFill>
                  <a:srgbClr val="1C2736"/>
                </a:solidFill>
                <a:latin typeface="Calibri"/>
              </a:rPr>
              <a:t>1 GPU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; </a:t>
            </a:r>
            <a:r>
              <a:rPr sz="1350" b="1" i="0">
                <a:solidFill>
                  <a:srgbClr val="1C2736"/>
                </a:solidFill>
                <a:latin typeface="Calibri"/>
              </a:rPr>
              <a:t>mở khoá vision tower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 để học đặc trưng y khoa.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1C2736"/>
                </a:solidFill>
                <a:latin typeface="Calibri"/>
              </a:rPr>
              <a:t>Dữ liệu: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 đa lát + </a:t>
            </a:r>
            <a:r>
              <a:rPr sz="1350" b="1" i="0">
                <a:solidFill>
                  <a:srgbClr val="1C2736"/>
                </a:solidFill>
                <a:latin typeface="Calibri"/>
              </a:rPr>
              <a:t>ca âm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 (không u) + </a:t>
            </a:r>
            <a:r>
              <a:rPr sz="1350" b="1" i="0">
                <a:solidFill>
                  <a:srgbClr val="1C2736"/>
                </a:solidFill>
                <a:latin typeface="Calibri"/>
              </a:rPr>
              <a:t>multi-box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 (tách từng ổ) — khác paper chỉ 1 lát; split theo bệnh nhân.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1C2736"/>
                </a:solidFill>
                <a:latin typeface="Calibri"/>
              </a:rPr>
              <a:t>Huấn luyện: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 LoRA (LLM) + full-finetune vision; box viết dưới dạng </a:t>
            </a:r>
            <a:r>
              <a:rPr sz="1350" b="1" i="0">
                <a:solidFill>
                  <a:srgbClr val="1C2736"/>
                </a:solidFill>
                <a:latin typeface="Calibri"/>
              </a:rPr>
              <a:t>text toạ độ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 (0–1000).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1C2736"/>
                </a:solidFill>
                <a:latin typeface="Calibri"/>
              </a:rPr>
              <a:t>Đánh giá (đóng góp chính):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 per-patient + CI, </a:t>
            </a:r>
            <a:r>
              <a:rPr sz="1350" b="1" i="0">
                <a:solidFill>
                  <a:srgbClr val="1C2736"/>
                </a:solidFill>
                <a:latin typeface="Calibri"/>
              </a:rPr>
              <a:t>tách detection/localization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, </a:t>
            </a:r>
            <a:r>
              <a:rPr sz="1350" b="1" i="0">
                <a:solidFill>
                  <a:srgbClr val="1C2736"/>
                </a:solidFill>
                <a:latin typeface="Calibri"/>
              </a:rPr>
              <a:t>selective prediction</a:t>
            </a:r>
            <a:r>
              <a:rPr sz="1350" b="0" i="0">
                <a:solidFill>
                  <a:srgbClr val="1C2736"/>
                </a:solidFill>
                <a:latin typeface="Calibri"/>
              </a:rPr>
              <a:t> (biết khi nào không chắc).</a:t>
            </a:r>
          </a:p>
        </p:txBody>
      </p:sp>
      <p:pic>
        <p:nvPicPr>
          <p:cNvPr id="5" name="Picture 4" descr="iou_frozen_vs_unfroz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161287"/>
            <a:ext cx="3200400" cy="2556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0" y="3744856"/>
            <a:ext cx="3200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800" b="0" i="1">
                <a:solidFill>
                  <a:srgbClr val="6B7F95"/>
                </a:solidFill>
                <a:latin typeface="Calibri"/>
              </a:rPr>
              <a:t>Mở vision = bước tạo khác biệt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Cải tiến MedRegA · Gemma 4 E4B (u gan LiTS)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8696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Kết quả vs baseline (zero-shot → fine-tune)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69848"/>
          <a:ext cx="502920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188720"/>
                <a:gridCol w="118872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Chỉ số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Của mình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C2736"/>
                          </a:solidFill>
                          <a:latin typeface="Calibri"/>
                        </a:rPr>
                        <a:t>Detection F1 (bệnh nhân)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C2736"/>
                          </a:solidFill>
                          <a:latin typeface="Calibri"/>
                        </a:rPr>
                        <a:t>0.33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C2736"/>
                          </a:solidFill>
                          <a:latin typeface="Calibri"/>
                        </a:rPr>
                        <a:t>0.89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C2736"/>
                          </a:solidFill>
                          <a:latin typeface="Calibri"/>
                        </a:rPr>
                        <a:t>Sensitivity (bắt u)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C2736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C2736"/>
                          </a:solidFill>
                          <a:latin typeface="Calibri"/>
                        </a:rPr>
                        <a:t>80%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C2736"/>
                          </a:solidFill>
                          <a:latin typeface="Calibri"/>
                        </a:rPr>
                        <a:t>Localization pIoU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C2736"/>
                          </a:solidFill>
                          <a:latin typeface="Calibri"/>
                        </a:rPr>
                        <a:t>0.002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C2736"/>
                          </a:solidFill>
                          <a:latin typeface="Calibri"/>
                        </a:rPr>
                        <a:t>0.27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C2736"/>
                          </a:solidFill>
                          <a:latin typeface="Calibri"/>
                        </a:rPr>
                        <a:t>recall@IoU 0.25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C2736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C2736"/>
                          </a:solidFill>
                          <a:latin typeface="Calibri"/>
                        </a:rPr>
                        <a:t>54%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C2736"/>
                          </a:solidFill>
                          <a:latin typeface="Calibri"/>
                        </a:rPr>
                        <a:t>False-positive (lát âm)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C2736"/>
                          </a:solidFill>
                          <a:latin typeface="Calibri"/>
                        </a:rPr>
                        <a:t>2.2%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C2736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172968"/>
            <a:ext cx="50292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2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00" b="1" i="0">
                <a:solidFill>
                  <a:srgbClr val="1C2736"/>
                </a:solidFill>
                <a:latin typeface="Calibri"/>
              </a:rPr>
              <a:t>Không quên:</a:t>
            </a:r>
            <a:r>
              <a:rPr sz="1200" b="0" i="0">
                <a:solidFill>
                  <a:srgbClr val="1C2736"/>
                </a:solidFill>
                <a:latin typeface="Calibri"/>
              </a:rPr>
              <a:t> vẫn hội thoại / JSON / thơ / toán (LoRA giữ trọng số gốc).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767328"/>
            <a:ext cx="5029200" cy="640080"/>
          </a:xfrm>
          <a:prstGeom prst="rect">
            <a:avLst/>
          </a:prstGeom>
          <a:solidFill>
            <a:srgbClr val="F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3831336"/>
            <a:ext cx="4809744" cy="51206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A04646"/>
                </a:solidFill>
                <a:latin typeface="Calibri"/>
              </a:rPr>
              <a:t>⚠ Lưu ý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n nhỏ (~25 bn dương, 2 âm) → CI rộng; đây là PoC, không tuyên bố lâm sàng.</a:t>
            </a:r>
          </a:p>
        </p:txBody>
      </p:sp>
      <p:pic>
        <p:nvPicPr>
          <p:cNvPr id="8" name="Picture 7" descr="detect_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252728"/>
            <a:ext cx="3383280" cy="19537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577840" y="3233885"/>
            <a:ext cx="3383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800" b="0" i="1">
                <a:solidFill>
                  <a:srgbClr val="6B7F95"/>
                </a:solidFill>
                <a:latin typeface="Calibri"/>
              </a:rPr>
              <a:t>Trước → sau fine-tune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Cải tiến MedRegA · Gemma 4 E4B (u gan LiTS)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8696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Kết quả vs MedRegA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69848"/>
          <a:ext cx="548640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Khía cạnh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MedRegA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Của mình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1C2736"/>
                          </a:solidFill>
                          <a:latin typeface="Calibri"/>
                        </a:rPr>
                        <a:t>Quy mô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~40B, 16×H800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~8B, 1 GPU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1C2736"/>
                          </a:solidFill>
                          <a:latin typeface="Calibri"/>
                        </a:rPr>
                        <a:t>Vào 3D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1 lát trung tâm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đa lát + ca âm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1C2736"/>
                          </a:solidFill>
                          <a:latin typeface="Calibri"/>
                        </a:rPr>
                        <a:t>Đơn vị đánh giá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per-image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per-patient + CI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1C2736"/>
                          </a:solidFill>
                          <a:latin typeface="Calibri"/>
                        </a:rPr>
                        <a:t>Detect vs Localize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gộp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tách riêng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1C2736"/>
                          </a:solidFill>
                          <a:latin typeface="Calibri"/>
                        </a:rPr>
                        <a:t>Ca âm / Bất định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không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FP + selective prediction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1C2736"/>
                          </a:solidFill>
                          <a:latin typeface="Calibri"/>
                        </a:rPr>
                        <a:t>Localization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IoU ~0.23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2736"/>
                          </a:solidFill>
                          <a:latin typeface="Calibri"/>
                        </a:rPr>
                        <a:t>pIoU ~0.27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989320" y="1115568"/>
            <a:ext cx="2834640" cy="21945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9048" y="1179576"/>
            <a:ext cx="2615184" cy="206654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F558C"/>
                </a:solidFill>
                <a:latin typeface="Calibri"/>
              </a:rPr>
              <a:t>Đọc đúng cách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KHÔNG so số trực tiếp (khác data/metric); pIoU có PHẠT nên khắt khe hơn. Đóng góp thật = khung đánh giá trung thực + độ tin cậy.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Cải tiến MedRegA · Gemma 4 E4B (u gan LiTS)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8696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Kết luận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841248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1C2736"/>
                </a:solidFill>
                <a:latin typeface="Calibri"/>
              </a:rPr>
              <a:t>Chứng minh cơ chế:</a:t>
            </a:r>
            <a:r>
              <a:rPr sz="1500" b="0" i="0">
                <a:solidFill>
                  <a:srgbClr val="1C2736"/>
                </a:solidFill>
                <a:latin typeface="Calibri"/>
              </a:rPr>
              <a:t> region-centric (khoanh-rồi-đọc) khả thi ở </a:t>
            </a:r>
            <a:r>
              <a:rPr sz="1500" b="1" i="0">
                <a:solidFill>
                  <a:srgbClr val="1C2736"/>
                </a:solidFill>
                <a:latin typeface="Calibri"/>
              </a:rPr>
              <a:t>~8B, 1 GPU</a:t>
            </a:r>
            <a:r>
              <a:rPr sz="1500" b="0" i="0">
                <a:solidFill>
                  <a:srgbClr val="1C2736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1C2736"/>
                </a:solidFill>
                <a:latin typeface="Calibri"/>
              </a:rPr>
              <a:t>Giá trị:</a:t>
            </a:r>
            <a:r>
              <a:rPr sz="1500" b="0" i="0">
                <a:solidFill>
                  <a:srgbClr val="1C2736"/>
                </a:solidFill>
                <a:latin typeface="Calibri"/>
              </a:rPr>
              <a:t> khung đánh giá trung thực + selective prediction — không phải điểm số.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1C2736"/>
                </a:solidFill>
                <a:latin typeface="Calibri"/>
              </a:rPr>
              <a:t>Trung thực:</a:t>
            </a:r>
            <a:r>
              <a:rPr sz="1500" b="0" i="0">
                <a:solidFill>
                  <a:srgbClr val="1C2736"/>
                </a:solidFill>
                <a:latin typeface="Calibri"/>
              </a:rPr>
              <a:t> PoC trên 1 dataset / 1 task, n nhỏ, CI rộng.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1C2736"/>
                </a:solidFill>
                <a:latin typeface="Calibri"/>
              </a:rPr>
              <a:t>Tương lai:</a:t>
            </a:r>
            <a:r>
              <a:rPr sz="1500" b="0" i="0">
                <a:solidFill>
                  <a:srgbClr val="1C2736"/>
                </a:solidFill>
                <a:latin typeface="Calibri"/>
              </a:rPr>
              <a:t> ảnh giàu hơn (multi-window, 2.5D) + external validation.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3813048"/>
            <a:ext cx="8412480" cy="5486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3877056"/>
            <a:ext cx="8193023" cy="42062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F558C"/>
                </a:solidFill>
                <a:latin typeface="Calibri"/>
              </a:rPr>
              <a:t>Câu chốt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Không hứa đã tới đích — chỉ ra con đường và nói rõ chỗ nào còn dốc.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Cải tiến MedRegA · Gemma 4 E4B (u gan LiTS)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