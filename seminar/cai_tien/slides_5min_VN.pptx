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THÍCH METRIC (Presenter View):</a:t>
            </a:r>
          </a:p>
          <a:p>
            <a:r>
              <a:t>• Detection F1 0.89 = cân bằng recall (bắt u) &amp; precision (không báo bừa); tính PER-PATIENT để không thổi phồng.</a:t>
            </a:r>
          </a:p>
          <a:p>
            <a:r>
              <a:t>• Sensitivity 80% = bắt đúng 20/25 bệnh nhân có u (sót 5) — con số lâm sàng quan trọng nhất (sót u = nguy hiểm).</a:t>
            </a:r>
          </a:p>
          <a:p>
            <a:r>
              <a:t>• Localization pIoU 0.27 = độ chồng lấn box (giao/hợp), CÓ PHẠT khi vẽ thừa/thiếu ổ → mức trung bình, chỗ còn yếu (khoanh được vùng nhưng chưa khít).</a:t>
            </a:r>
          </a:p>
          <a:p>
            <a:r>
              <a:t>• recall@IoU.25 54% = 54% u được khoanh tạm trúng (chồng lấn ≥ 0.25).</a:t>
            </a:r>
          </a:p>
          <a:p>
            <a:r>
              <a:t>• False-positive 1.5% = trên lát KHÔNG u, hiếm khi bịa box (điểm tốt).</a:t>
            </a:r>
          </a:p>
          <a:p>
            <a:r>
              <a:t>• CI95 [0.19, 0.36] = khoảng tin cậy 95%, số dao động vì mẫu nhỏ (không phải số cứng).</a:t>
            </a:r>
          </a:p>
          <a:p>
            <a:r>
              <a:t>• Không quên = nhờ LoRA giữ trọng số gốc → vẫn hội thoại / JSON / thơ / toán.</a:t>
            </a:r>
          </a:p>
          <a:p>
            <a:r>
              <a:t>• ~0.27 vs MedRegA ~0.23 = cùng khoảng dù nhỏ 5×, KHÁC dataset nên chỉ tham khảo, KHÔNG claim hơn.</a:t>
            </a:r>
          </a:p>
          <a:p>
            <a:r>
              <a:t>• Caveat: n nhỏ (25 dương / 2 âm), CI rộng, là PoC — không tuyên bố lâm sàng.</a:t>
            </a:r>
          </a:p>
          <a:p/>
          <a:p>
            <a:r>
              <a:t>CÂU NÓI (~40s): "Model đạt F1 0.89 ở phát hiện, độ nhạy 80% (20/25 bệnh nhân). Định vị pIoU 0.27 mới trung bình, chúng em không giấu. Điểm cộng: hiếm bịa u (FP 1.5%) và không quên nhờ LoRA. Định vị ngang MedRegA dù nhỏ 5× nhưng khác dữ liệu nên chỉ tham khảo. Đây là PoC, mẫu nhỏ nên còn hạn chế thống kê."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9144000" cy="2103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72768"/>
            <a:ext cx="822960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Cải tiến của nhóm trên MedRegA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78608"/>
            <a:ext cx="8229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0" i="0">
                <a:solidFill>
                  <a:srgbClr val="B8CFE0"/>
                </a:solidFill>
                <a:latin typeface="Calibri"/>
              </a:rPr>
              <a:t>Fine-tune Gemma 4 E4B phát hiện u gan trên CT (LiTS)</a:t>
            </a:r>
          </a:p>
          <a:p>
            <a:pPr algn="ctr"/>
            <a:r>
              <a:rPr sz="1500" b="0" i="0">
                <a:solidFill>
                  <a:srgbClr val="B8CFE0"/>
                </a:solidFill>
                <a:latin typeface="Calibri"/>
              </a:rPr>
              <a:t>Mô hình nhỏ — trung thực về đánh giá &amp; độ tin cậy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0"/>
            <a:ext cx="8229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00" b="0" i="0">
                <a:solidFill>
                  <a:srgbClr val="6B7F95"/>
                </a:solidFill>
                <a:latin typeface="Calibri"/>
              </a:rPr>
              <a:t>Seminar Học sâu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Kiến trúc &amp; cách làm của nhóm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Mỗi lựa chọn vá đúng MỘT hạn chế của MedRegA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17320"/>
          <a:ext cx="841248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438912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Hạn chế của MedRegA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Lựa chọn của nhóm (vì sao)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Dồn lên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LLM 40B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; “mắt” &amp; “cầu” bất động → định vị không sắc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Gemma 4 E4B (~8B)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 +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mở khoá vision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 (pIoU 0.015→0.27)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Chỉ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1 lát trung tâm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,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không ca âm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, box gộp thô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Đa lát + ca âm + multi-box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 (tách từng ổ); split theo bệnh nhân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Chi phí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16×H800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 — ngoài tầm sinh viên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LoRA + full-finetune vision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, chạy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1 GPU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Per-image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 (pseudoreplication); không abstain / CI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Per-patient + CI</a:t>
                      </a:r>
                      <a:r>
                        <a:rPr sz="1150" b="0" i="0">
                          <a:solidFill>
                            <a:srgbClr val="1C2736"/>
                          </a:solidFill>
                          <a:latin typeface="Calibri"/>
                        </a:rPr>
                        <a:t>, tách detect/localize, </a:t>
                      </a:r>
                      <a:r>
                        <a:rPr sz="1150" b="1" i="0">
                          <a:solidFill>
                            <a:srgbClr val="1C2736"/>
                          </a:solidFill>
                          <a:latin typeface="Calibri"/>
                        </a:rPr>
                        <a:t>selective prediction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Cải tiến MedRegA · Gemma 4 E4B (u gan LiTS)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Kết quả của nhóm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Model của nhóm đạt được — công bố trực tiếp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35607"/>
            <a:ext cx="2697480" cy="12344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63624"/>
            <a:ext cx="2697480" cy="64190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3200" b="1" i="0">
                <a:solidFill>
                  <a:srgbClr val="1A3A5C"/>
                </a:solidFill>
                <a:latin typeface="Cambria"/>
              </a:rPr>
              <a:t>0.89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51583"/>
            <a:ext cx="2514600" cy="4937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1C2736"/>
                </a:solidFill>
                <a:latin typeface="Calibri"/>
              </a:rPr>
              <a:t>Detection F1 (bệnh nhân)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1435607"/>
            <a:ext cx="2697480" cy="12344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1563624"/>
            <a:ext cx="2697480" cy="64190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3200" b="1" i="0">
                <a:solidFill>
                  <a:srgbClr val="1A3A5C"/>
                </a:solidFill>
                <a:latin typeface="Cambria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151583"/>
            <a:ext cx="2514600" cy="4937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1C2736"/>
                </a:solidFill>
                <a:latin typeface="Calibri"/>
              </a:rPr>
              <a:t>Sensitivity — bắt được 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904" y="1435607"/>
            <a:ext cx="2697480" cy="12344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9904" y="1563624"/>
            <a:ext cx="2697480" cy="641908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3200" b="1" i="0">
                <a:solidFill>
                  <a:srgbClr val="1A3A5C"/>
                </a:solidFill>
                <a:latin typeface="Cambria"/>
              </a:rPr>
              <a:t>0.27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151583"/>
            <a:ext cx="2514600" cy="4937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1C2736"/>
                </a:solidFill>
                <a:latin typeface="Calibri"/>
              </a:rPr>
              <a:t>Localization pIoU (định vị)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25496"/>
            <a:ext cx="841248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C2736"/>
                </a:solidFill>
                <a:latin typeface="Calibri"/>
              </a:rPr>
              <a:t>recall@IoU.25 = 54%</a:t>
            </a:r>
            <a:r>
              <a:rPr sz="1250" b="0" i="0">
                <a:solidFill>
                  <a:srgbClr val="1C2736"/>
                </a:solidFill>
                <a:latin typeface="Calibri"/>
              </a:rPr>
              <a:t> · </a:t>
            </a:r>
            <a:r>
              <a:rPr sz="1250" b="1" i="0">
                <a:solidFill>
                  <a:srgbClr val="1C2736"/>
                </a:solidFill>
                <a:latin typeface="Calibri"/>
              </a:rPr>
              <a:t>False-positive = 1.5%</a:t>
            </a:r>
            <a:r>
              <a:rPr sz="1250" b="0" i="0">
                <a:solidFill>
                  <a:srgbClr val="1C2736"/>
                </a:solidFill>
                <a:latin typeface="Calibri"/>
              </a:rPr>
              <a:t> (hiếm khi bịa box) · pIoU CI95 [0.19, 0.36].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C2736"/>
                </a:solidFill>
                <a:latin typeface="Calibri"/>
              </a:rPr>
              <a:t>Không quên:</a:t>
            </a:r>
            <a:r>
              <a:rPr sz="1250" b="0" i="0">
                <a:solidFill>
                  <a:srgbClr val="1C2736"/>
                </a:solidFill>
                <a:latin typeface="Calibri"/>
              </a:rPr>
              <a:t> vẫn hội thoại / JSON / thơ / toán (LoRA giữ trọng số gốc).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C2736"/>
                </a:solidFill>
                <a:latin typeface="Calibri"/>
              </a:rPr>
              <a:t>Định vị ~0.27 ≈ </a:t>
            </a:r>
            <a:r>
              <a:rPr sz="1250" b="1" i="0">
                <a:solidFill>
                  <a:srgbClr val="1C2736"/>
                </a:solidFill>
                <a:latin typeface="Calibri"/>
              </a:rPr>
              <a:t>cùng khoảng MedRegA (~0.23)</a:t>
            </a:r>
            <a:r>
              <a:rPr sz="1250" b="0" i="0">
                <a:solidFill>
                  <a:srgbClr val="1C2736"/>
                </a:solidFill>
                <a:latin typeface="Calibri"/>
              </a:rPr>
              <a:t> dù model nhỏ 5× — khác dataset, chỉ tham khảo.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78808"/>
            <a:ext cx="841248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242816"/>
            <a:ext cx="8193023" cy="42062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A04646"/>
                </a:solidFill>
                <a:latin typeface="Calibri"/>
              </a:rPr>
              <a:t>⚠ Lưu ý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n nhỏ (~25 bn dương / 2 âm) → CI rộng; đây là PoC, không tuyên bố lâm sàng.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Cải tiến MedRegA · Gemma 4 E4B (u gan LiTS)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Vì đâu có kết quả? — nhờ fine-tune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Không chỉ đổi model: zero-shot (model mới, chưa train) → sau fine-tune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029200" cy="274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Đổi model thôi KHÔNG đủ: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Gemma zero-shot (chưa fine-tune) chỉ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F1 0.33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, gần như luôn trả “No tumor”.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Fine-tune tạo ra năng lực: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F1 0.33→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0.89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, recall 0→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54%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, pIoU 0.002→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0.27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Bằng chứng thêm: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đóng băng vision → pIoU 0.015;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mở khoá + train → 0.27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— cách train mới là mấu chốt.</a:t>
            </a:r>
          </a:p>
        </p:txBody>
      </p:sp>
      <p:pic>
        <p:nvPicPr>
          <p:cNvPr id="6" name="Picture 5" descr="detect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08760"/>
            <a:ext cx="3383280" cy="1953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3489916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 i="1">
                <a:solidFill>
                  <a:srgbClr val="6B7F95"/>
                </a:solidFill>
                <a:latin typeface="Calibri"/>
              </a:rPr>
              <a:t>Trước → sau fine-tune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069080"/>
            <a:ext cx="5029200" cy="65836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33088"/>
            <a:ext cx="4809744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Chốt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Kết quả đến từ FINE-TUNE (dữ liệu + mở vision + eval), không chỉ vì đổi sang model mới.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Cải tiến MedRegA · Gemma 4 E4B (u gan LiTS)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69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8412480" cy="274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C2736"/>
                </a:solidFill>
                <a:latin typeface="Calibri"/>
              </a:rPr>
              <a:t>Chứng minh cơ chế:</a:t>
            </a:r>
            <a:r>
              <a:rPr sz="1500" b="0" i="0">
                <a:solidFill>
                  <a:srgbClr val="1C2736"/>
                </a:solidFill>
                <a:latin typeface="Calibri"/>
              </a:rPr>
              <a:t> region-centric (khoanh-rồi-đọc) khả thi ở </a:t>
            </a:r>
            <a:r>
              <a:rPr sz="1500" b="1" i="0">
                <a:solidFill>
                  <a:srgbClr val="1C2736"/>
                </a:solidFill>
                <a:latin typeface="Calibri"/>
              </a:rPr>
              <a:t>~8B, 1 GPU</a:t>
            </a:r>
            <a:r>
              <a:rPr sz="1500" b="0" i="0">
                <a:solidFill>
                  <a:srgbClr val="1C2736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C2736"/>
                </a:solidFill>
                <a:latin typeface="Calibri"/>
              </a:rPr>
              <a:t>Giá trị:</a:t>
            </a:r>
            <a:r>
              <a:rPr sz="1500" b="0" i="0">
                <a:solidFill>
                  <a:srgbClr val="1C2736"/>
                </a:solidFill>
                <a:latin typeface="Calibri"/>
              </a:rPr>
              <a:t> khung đánh giá trung thực + selective prediction — không phải điểm số.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C2736"/>
                </a:solidFill>
                <a:latin typeface="Calibri"/>
              </a:rPr>
              <a:t>Trung thực:</a:t>
            </a:r>
            <a:r>
              <a:rPr sz="1500" b="0" i="0">
                <a:solidFill>
                  <a:srgbClr val="1C2736"/>
                </a:solidFill>
                <a:latin typeface="Calibri"/>
              </a:rPr>
              <a:t> PoC trên 1 dataset / 1 task, n nhỏ, CI rộng.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C2736"/>
                </a:solidFill>
                <a:latin typeface="Calibri"/>
              </a:rPr>
              <a:t>Tương lai:</a:t>
            </a:r>
            <a:r>
              <a:rPr sz="1500" b="0" i="0">
                <a:solidFill>
                  <a:srgbClr val="1C2736"/>
                </a:solidFill>
                <a:latin typeface="Calibri"/>
              </a:rPr>
              <a:t> ảnh giàu hơn (multi-window, 2.5D) + external validation.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813048"/>
            <a:ext cx="8412480" cy="5486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3877056"/>
            <a:ext cx="8193023" cy="42062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Câu chốt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Không hứa đã tới đích — chỉ ra con đường và nói rõ chỗ nào còn dốc.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Cải tiến MedRegA · Gemma 4 E4B (u gan LiTS)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