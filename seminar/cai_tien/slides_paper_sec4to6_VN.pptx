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Ý tưởng cốt lõi: mã hoá vùng thành chữ (box-as-text)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Toạ độ vùng viết thẳng vào câu → nền cho 3 nhiệm vụ region-centric</a:t>
            </a:r>
          </a:p>
        </p:txBody>
      </p:sp>
      <p:pic>
        <p:nvPicPr>
          <p:cNvPr id="5" name="Picture 4" descr="paper_fig4_or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07592"/>
            <a:ext cx="7680960" cy="28697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204735"/>
            <a:ext cx="76809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" b="0" i="1">
                <a:solidFill>
                  <a:srgbClr val="6B7F95"/>
                </a:solidFill>
                <a:latin typeface="Calibri"/>
              </a:rPr>
              <a:t>Figure 4 — ví dụ 3 nhiệm vụ region-centric (paper)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343400"/>
            <a:ext cx="8549640" cy="585216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407408"/>
            <a:ext cx="8330183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Mã hoá box-as-text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Toạ độ hộp viết thẳng vào câu: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&lt;ref&gt;tên đối tượng&lt;/ref&gt; &lt;box&gt;[x1,y1,x2,y2]&lt;/box&gt;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, chuẩn hoá về số nguyên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[0, 1000)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(tức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0–999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) → không cần “đầu ra” riêng cho box; cả 3 nhiệm vụ đều quy về sinh văn bản.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Huấn luyện 2 giai đoạn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Nền InternVL 1.2 (InternViT-6B + Yi-34B) — căn chỉnh trước, rồi tinh chỉnh theo chỉ dẫn</a:t>
            </a:r>
          </a:p>
        </p:txBody>
      </p:sp>
      <p:pic>
        <p:nvPicPr>
          <p:cNvPr id="5" name="Picture 4" descr="paper_train_stages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307592"/>
            <a:ext cx="5943600" cy="13225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2697480"/>
            <a:ext cx="4160520" cy="1243584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2779776"/>
            <a:ext cx="3904487" cy="10789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00" b="1" i="0">
                <a:solidFill>
                  <a:srgbClr val="1F558C"/>
                </a:solidFill>
                <a:latin typeface="Calibri"/>
              </a:rPr>
              <a:t>Giai đoạn 1 — Alignment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Mục tiêu: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dạy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cầu nối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 phiên dịch ảnh y khoa → ngôn ngữ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Dữ liệu: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ảnh y khoa +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chú thích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 (captioning)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Huấn luyện: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chỉ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cầu nối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; vision &amp; LLM đóng băng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2697480"/>
            <a:ext cx="4297680" cy="1243584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2779776"/>
            <a:ext cx="4041648" cy="10789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00" b="1" i="0">
                <a:solidFill>
                  <a:srgbClr val="1F558C"/>
                </a:solidFill>
                <a:latin typeface="Calibri"/>
              </a:rPr>
              <a:t>Giai đoạn 2 — Instruction tuning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Mục tiêu: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làm nhiều tác vụ theo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chỉ dẫn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Dữ liệu: 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public (VQA, báo cáo, phân loại) +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MedRegInstruct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 (3 tác vụ vùng)</a:t>
            </a:r>
          </a:p>
          <a:p>
            <a:pPr>
              <a:spcBef>
                <a:spcPts val="250"/>
              </a:spcBef>
            </a:pPr>
            <a:r>
              <a:rPr sz="960" b="1" i="0">
                <a:solidFill>
                  <a:srgbClr val="1A3A5C"/>
                </a:solidFill>
                <a:latin typeface="Calibri"/>
              </a:rPr>
              <a:t>Huấn luyện: </a:t>
            </a:r>
            <a:r>
              <a:rPr sz="960" b="1" i="0">
                <a:solidFill>
                  <a:srgbClr val="1C2736"/>
                </a:solidFill>
                <a:latin typeface="Calibri"/>
              </a:rPr>
              <a:t>LLM</a:t>
            </a:r>
            <a:r>
              <a:rPr sz="960" b="0" i="0">
                <a:solidFill>
                  <a:srgbClr val="1C2736"/>
                </a:solidFill>
                <a:latin typeface="Calibri"/>
              </a:rPr>
              <a:t>; loss = dự đoán token kế tiếp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32504"/>
            <a:ext cx="8549640" cy="676656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096512"/>
            <a:ext cx="8330183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MedRegInstruct — dữ liệu vùng song ngữ (giai đoạn 2 học từ đây)</a:t>
            </a:r>
          </a:p>
          <a:p>
            <a:pPr>
              <a:spcBef>
                <a:spcPts val="100"/>
              </a:spcBef>
            </a:pPr>
            <a:r>
              <a:rPr sz="1000" b="1" i="0">
                <a:solidFill>
                  <a:srgbClr val="1C2736"/>
                </a:solidFill>
                <a:latin typeface="Calibri"/>
              </a:rPr>
              <a:t>790K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mẫu tự dựng bán tự động: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550K Region-Text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(SA-Med2D-20M) +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240K Region-Grounded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(MIMIC-CXR + bệnh viện TQ). Báo cáo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tiếng Trung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từ bệnh viện → năng lực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song ngữ Anh–Trung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mà baseline khác thiếu.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Giai đoạn 2 dạy gì? — 3 kiểu “chỉ dẫn” vùng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Mỗi nhiệm vụ là một kiểu chỉ dẫn: đưa vào gì → model trả gì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35607"/>
          <a:ext cx="8549640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3063240"/>
                <a:gridCol w="33375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Nhiệm vụ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Đưa vào (input)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 trả (output)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Region → Text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ảnh + </a:t>
                      </a:r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box [toạ độ]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tên vùng</a:t>
                      </a:r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 — vd “gan”, “khối u”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Text → Region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ảnh + </a:t>
                      </a:r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tên</a:t>
                      </a:r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 — vd “gan ở đâu?”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box [toạ độ]</a:t>
                      </a:r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 của vùng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Grounded Report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ảnh (cả ảnh)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C2736"/>
                          </a:solidFill>
                          <a:latin typeface="Calibri"/>
                        </a:rPr>
                        <a:t>báo cáo</a:t>
                      </a:r>
                      <a:r>
                        <a:rPr sz="1200" b="0" i="0">
                          <a:solidFill>
                            <a:srgbClr val="1C2736"/>
                          </a:solidFill>
                          <a:latin typeface="Calibri"/>
                        </a:rPr>
                        <a:t>, mỗi câu gắn 1 box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3813048"/>
            <a:ext cx="8549640" cy="73152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3877056"/>
            <a:ext cx="8330183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Cách viết “chỉ dẫn”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Toạ độ box viết thẳng trong câu: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&lt;box&gt;[x1,y1,x2,y2]&lt;/box&gt;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, chuẩn hoá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0–999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mọi câu trả lời (kể cả vị trí) đều là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sinh văn bản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. Các cặp (chỉ dẫn → đáp án) lấy từ bộ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MedRegInstruct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(slide trước).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Kết quả — tác vụ tổng quát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Ngang/nhỉnh baseline ở tiếng Anh, vượt trội ở tiếng Trung</a:t>
            </a:r>
          </a:p>
        </p:txBody>
      </p:sp>
      <p:pic>
        <p:nvPicPr>
          <p:cNvPr id="5" name="Picture 4" descr="paper_general_bar_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74920" cy="26545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32120" y="1463039"/>
            <a:ext cx="3383280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1C2736"/>
                </a:solidFill>
                <a:latin typeface="Calibri"/>
              </a:rPr>
              <a:t>Tiếng Anh:</a:t>
            </a:r>
            <a:r>
              <a:rPr sz="1150" b="0" i="0">
                <a:solidFill>
                  <a:srgbClr val="1C2736"/>
                </a:solidFill>
                <a:latin typeface="Calibri"/>
              </a:rPr>
              <a:t> nhỉnh nhẹ — VQA 67.7 vs MedDr 65.7.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1C2736"/>
                </a:solidFill>
                <a:latin typeface="Calibri"/>
              </a:rPr>
              <a:t>Tiếng Trung: bứt phá</a:t>
            </a:r>
            <a:r>
              <a:rPr sz="1150" b="0" i="0">
                <a:solidFill>
                  <a:srgbClr val="1C2736"/>
                </a:solidFill>
                <a:latin typeface="Calibri"/>
              </a:rPr>
              <a:t> — Report +28.8, VQA +23 BLEU-1.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1C2736"/>
                </a:solidFill>
                <a:latin typeface="Calibri"/>
              </a:rPr>
              <a:t>Phân loại ảnh:</a:t>
            </a:r>
            <a:r>
              <a:rPr sz="1150" b="0" i="0">
                <a:solidFill>
                  <a:srgbClr val="1C2736"/>
                </a:solidFill>
                <a:latin typeface="Calibri"/>
              </a:rPr>
              <a:t> F1 47.97 vs 32.65 (+15).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1C2736"/>
                </a:solidFill>
                <a:latin typeface="Calibri"/>
              </a:rPr>
              <a:t>Regional CoT</a:t>
            </a:r>
            <a:r>
              <a:rPr sz="1150" b="0" i="0">
                <a:solidFill>
                  <a:srgbClr val="1C2736"/>
                </a:solidFill>
                <a:latin typeface="Calibri"/>
              </a:rPr>
              <a:t> (phát hiện vùng trước → suy luận sau): +31.6 F1 (VinDr-SpineXR) → khoanh vùng giúp cả bài toán chung.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361688"/>
            <a:ext cx="8375904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Chốt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Trên sân chung MedRegA hơn nhẹ; bứt phá ở song ngữ và khi thêm suy luận theo vùng.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Kết quả — tác vụ Region-Centric (thế mạnh)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Baseline gần như bằng 0 — đây là năng lực riêng của MedRegA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206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00" b="1" i="0">
                <a:solidFill>
                  <a:srgbClr val="1A3A5C"/>
                </a:solidFill>
                <a:latin typeface="Cambria"/>
              </a:rPr>
              <a:t>Region → Text (gọi tên vùng)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55064"/>
          <a:ext cx="416052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MedRegA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BLEU-1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≤0.75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69.72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≤1.27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70.43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BertScore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50.28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87.13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09160" y="1325880"/>
            <a:ext cx="4206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00" b="1" i="0">
                <a:solidFill>
                  <a:srgbClr val="1A3A5C"/>
                </a:solidFill>
                <a:latin typeface="Cambria"/>
              </a:rPr>
              <a:t>Text → Region (vẽ hộp)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09160" y="1655064"/>
          <a:ext cx="4160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InternVL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MedRegA</a:t>
                      </a:r>
                    </a:p>
                  </a:txBody>
                  <a:tcPr anchor="ctr" marL="63500" marT="25400" marB="25400"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Object F1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56.60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77.93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Region F1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38.24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Alignment F1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5.45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36.53</a:t>
                      </a:r>
                    </a:p>
                  </a:txBody>
                  <a:tcPr anchor="ctr" marL="63500"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IoU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C2736"/>
                          </a:solidFill>
                          <a:latin typeface="Calibri"/>
                        </a:rPr>
                        <a:t>12.28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C2736"/>
                          </a:solidFill>
                          <a:latin typeface="Calibri"/>
                        </a:rPr>
                        <a:t>23.43</a:t>
                      </a:r>
                    </a:p>
                  </a:txBody>
                  <a:tcPr anchor="ctr" marL="63500" marT="12700" marB="1270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3538728"/>
            <a:ext cx="8549640" cy="56692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602736"/>
            <a:ext cx="8330183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Thang metric (dễ tăng dần)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Object = đúng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tên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Region = đúng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chỗ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Alignment = đúng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cả hai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IoU = vẽ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khít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cỡ nào.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15384"/>
            <a:ext cx="8549640" cy="658368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279392"/>
            <a:ext cx="8330183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A04646"/>
                </a:solidFill>
                <a:latin typeface="Calibri"/>
              </a:rPr>
              <a:t>Lưu ý IoU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IoU 23.43 tính bằng Hungarian matching, chỉ trên các cặp hộp đã ghép. Grounded report IoU 52.07 cao hơn vì đích là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cơ quan lớn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(dễ), còn detection nhắm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khối u nhỏ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(khó).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mbria"/>
              </a:rPr>
              <a:t>MedRegA — chốt lại &amp; cầu nối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694944"/>
            <a:ext cx="8412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150" b="0" i="1">
                <a:solidFill>
                  <a:srgbClr val="B8CFE0"/>
                </a:solidFill>
                <a:latin typeface="Calibri"/>
              </a:rPr>
              <a:t>Paper đóng góp gì, còn hạn chế gì (nhóm nhận xét)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8549640" cy="89611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8330183" cy="7680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Đóng góp của paper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Bộ 3 nhiệm vụ Region-Centric + dữ liệu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MedRegInstruct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(gán nhãn bán tự động) + mô hình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MedRegA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region-aware, song ngữ. Giá trị cốt lõi: gắn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vùng ↔ văn bản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 → tăng khả năng diễn giải &amp; tương tác lâm sàng.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24328"/>
            <a:ext cx="85496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Chỉ song ngữ Trung–Anh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— chưa có tiếng Việt.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Chủ yếu ảnh 2D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— chưa khai thác 3D / CT đa pha.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1A3A5C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C2736"/>
                </a:solidFill>
                <a:latin typeface="Calibri"/>
              </a:rPr>
              <a:t>Chưa external validation / calibration</a:t>
            </a:r>
            <a:r>
              <a:rPr sz="1300" b="0" i="0">
                <a:solidFill>
                  <a:srgbClr val="1C2736"/>
                </a:solidFill>
                <a:latin typeface="Calibri"/>
              </a:rPr>
              <a:t> — độ tin cậy triển khai còn để ngỏ.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8549640" cy="65836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087368"/>
            <a:ext cx="8330183" cy="53035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F558C"/>
                </a:solidFill>
                <a:latin typeface="Calibri"/>
              </a:rPr>
              <a:t>→ Cầu nối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1C2736"/>
                </a:solidFill>
                <a:latin typeface="Calibri"/>
              </a:rPr>
              <a:t>MedRegA mạnh ở vùng-ngôn ngữ &amp; diễn giải, nhưng còn hạn ở tiếng Việt, dữ liệu 3D và kiểm định ngoài → đó là chỗ </a:t>
            </a:r>
            <a:r>
              <a:rPr sz="1000" b="1" i="0">
                <a:solidFill>
                  <a:srgbClr val="1C2736"/>
                </a:solidFill>
                <a:latin typeface="Calibri"/>
              </a:rPr>
              <a:t>nhóm mình bắt tay cải tiến</a:t>
            </a:r>
            <a:r>
              <a:rPr sz="1000" b="0" i="0">
                <a:solidFill>
                  <a:srgbClr val="1C2736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45736"/>
            <a:ext cx="854964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1">
                <a:solidFill>
                  <a:srgbClr val="757070"/>
                </a:solidFill>
                <a:latin typeface="Calibri"/>
              </a:rPr>
              <a:t>* Paper không có mục Hạn chế/Hướng phát triển riêng — đây là nhận xét thêm của nhóm.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937760"/>
            <a:ext cx="640080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850" b="0" i="0">
                <a:solidFill>
                  <a:srgbClr val="6B7F95"/>
                </a:solidFill>
                <a:latin typeface="Calibri"/>
              </a:rPr>
              <a:t>MedRegA · Wang et al., ICLR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93776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